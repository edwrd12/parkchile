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Open Sauce Light" charset="1" panose="00000400000000000000"/>
      <p:regular r:id="rId30"/>
    </p:embeddedFont>
    <p:embeddedFont>
      <p:font typeface="Open Sans Bold" charset="1" panose="020B0806030504020204"/>
      <p:regular r:id="rId31"/>
    </p:embeddedFont>
    <p:embeddedFont>
      <p:font typeface="Brittany" charset="1" panose="00000000000000000000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  <p:embeddedFont>
      <p:font typeface="Open Sauce Heavy" charset="1" panose="00000A00000000000000"/>
      <p:regular r:id="rId35"/>
    </p:embeddedFont>
    <p:embeddedFont>
      <p:font typeface="Open Sans Light" charset="1" panose="020B0306030504020204"/>
      <p:regular r:id="rId36"/>
    </p:embeddedFont>
    <p:embeddedFont>
      <p:font typeface="Open Sans" charset="1" panose="020B06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https://docs.google.com/spreadsheets/d/1xGlfAx5gp1nKPONwn1EWF0-LS5RJuEvT/edit?usp=drive_link&amp;ouid=112137381175738937054&amp;rtpof=true&amp;sd=true" TargetMode="External" Type="http://schemas.openxmlformats.org/officeDocument/2006/relationships/hyperlink"/><Relationship Id="rId16" Target="https://docs.google.com/spreadsheets/d/1Z_CEjZBNUBeKzM4430rDpj5ILq93EWUaVkd3A417FJI/edit?usp=drive_link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document/d/1OwtJD4nhC9p2fsx-AaKZAEJU2WQQteM4/edit?usp=drive_link&amp;ouid=112137381175738937054&amp;rtpof=true&amp;sd=true" TargetMode="External" Type="http://schemas.openxmlformats.org/officeDocument/2006/relationships/hyperlink"/><Relationship Id="rId2" Target="../media/image3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https://docs.google.com/spreadsheets/d/1M6WrG0VjQUX9UrdUqHZtxs6QC7YA1Jkw/edit?usp=drive_link&amp;ouid=112137381175738937054&amp;rtpof=true&amp;sd=true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https://docs.google.com/spreadsheets/d/1jdONXc1t0PXaUMvGRAbBnw6lfiJ83BGW/edit?usp=drive_link&amp;ouid=112137381175738937054&amp;rtpof=true&amp;sd=true" TargetMode="External" Type="http://schemas.openxmlformats.org/officeDocument/2006/relationships/hyperlink"/><Relationship Id="rId9" Target="https://docs.google.com/document/d/1Oj1q8tDDRZem7NqIr1ewuQP1Zf3fewZ2/edit?usp=drive_link&amp;ouid=112137381175738937054&amp;rtpof=true&amp;sd=true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https://docs.google.com/spreadsheets/d/1bSDjIef_2pyLwfZD-jQxus_vRkz-D_my/edit?gid=1128254782#gid=1128254782" TargetMode="External" Type="http://schemas.openxmlformats.org/officeDocument/2006/relationships/hyperlink"/><Relationship Id="rId9" Target="https://docs.google.com/document/d/11LOffbEAF8JSLyVwKgfzznAw6T2c9we5/edit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https://docs.google.com/spreadsheets/d/1gjIfeXNq463w78bu3u1wyv_eG2TMqbkv/edit?usp=drive_link&amp;ouid=112137381175738937054&amp;rtpof=true&amp;sd=true" TargetMode="External" Type="http://schemas.openxmlformats.org/officeDocument/2006/relationships/hyperlink"/><Relationship Id="rId9" Target="https://docs.google.com/document/d/18J4kWRuvRX4Xsd6N8bplagS9uBrLmSQ6/edit?usp=drive_link&amp;ouid=112137381175738937054&amp;rtpof=true&amp;sd=true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https://docs.google.com/spreadsheets/d/1eev6rJngu0xv430XBH88T3PHS3NWDy-J/edit?usp=drive_link&amp;ouid=112137381175738937054&amp;rtpof=true&amp;sd=true" TargetMode="External" Type="http://schemas.openxmlformats.org/officeDocument/2006/relationships/hyperlink"/><Relationship Id="rId9" Target="https://docs.google.com/document/d/1SknuEwx_ipN9DNabK4yRMv8Dsg425SrL/edit?usp=drive_link&amp;ouid=112137381175738937054&amp;rtpof=true&amp;sd=true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6518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4356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2194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924" y="6279318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99687" y="193135"/>
            <a:ext cx="3202318" cy="6356958"/>
          </a:xfrm>
          <a:custGeom>
            <a:avLst/>
            <a:gdLst/>
            <a:ahLst/>
            <a:cxnLst/>
            <a:rect r="r" b="b" t="t" l="l"/>
            <a:pathLst>
              <a:path h="6356958" w="3202318">
                <a:moveTo>
                  <a:pt x="0" y="0"/>
                </a:moveTo>
                <a:lnTo>
                  <a:pt x="3202318" y="0"/>
                </a:lnTo>
                <a:lnTo>
                  <a:pt x="32023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00059" y="5342997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00059" y="-1276910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6518" y="3627506"/>
            <a:ext cx="351093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Aplicación móvil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6518" y="6338917"/>
            <a:ext cx="4077444" cy="75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Comparte tu estacionamiento,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fácil y seguro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6518" y="3956436"/>
            <a:ext cx="56102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489" y="2962660"/>
            <a:ext cx="2034704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Nueva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66800"/>
            <a:ext cx="180625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Tabla 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8144" y="3832738"/>
            <a:ext cx="11830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Equipo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58144" y="5911521"/>
            <a:ext cx="15364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8144" y="7654889"/>
            <a:ext cx="16153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59889"/>
            <a:ext cx="431936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1280" y="4080388"/>
            <a:ext cx="18091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Necesidad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9855" y="5778166"/>
            <a:ext cx="14514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1280" y="7654889"/>
            <a:ext cx="11150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Épicas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1836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21836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21836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92447" y="4080388"/>
            <a:ext cx="26123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Requerimientos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3616" y="3930528"/>
            <a:ext cx="21010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Metodología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Evidencias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1022" y="5911521"/>
            <a:ext cx="205769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Arquitectura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92191" y="5635296"/>
            <a:ext cx="232477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Planificación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Presupuestos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92447" y="7654889"/>
            <a:ext cx="28897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Modelo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63616" y="7459651"/>
            <a:ext cx="228384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Sprints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Conclusiones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3003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4172" y="3525216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3003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4172" y="528668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3003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34172" y="704942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2487637"/>
            <a:ext cx="1107636" cy="191960"/>
            <a:chOff x="0" y="0"/>
            <a:chExt cx="1476848" cy="2559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6364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35738" y="3193008"/>
            <a:ext cx="3834988" cy="2636324"/>
            <a:chOff x="0" y="0"/>
            <a:chExt cx="1010038" cy="6943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0038" cy="694341"/>
            </a:xfrm>
            <a:custGeom>
              <a:avLst/>
              <a:gdLst/>
              <a:ahLst/>
              <a:cxnLst/>
              <a:rect r="r" b="b" t="t" l="l"/>
              <a:pathLst>
                <a:path h="694341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19646"/>
                  </a:lnTo>
                  <a:cubicBezTo>
                    <a:pt x="1010038" y="660899"/>
                    <a:pt x="976596" y="694341"/>
                    <a:pt x="935344" y="694341"/>
                  </a:cubicBezTo>
                  <a:lnTo>
                    <a:pt x="74694" y="694341"/>
                  </a:lnTo>
                  <a:cubicBezTo>
                    <a:pt x="33442" y="694341"/>
                    <a:pt x="0" y="660899"/>
                    <a:pt x="0" y="619646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0038" cy="722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05785" y="3193008"/>
            <a:ext cx="3834988" cy="2582399"/>
            <a:chOff x="0" y="0"/>
            <a:chExt cx="1010038" cy="6801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0097" y="3193008"/>
            <a:ext cx="3834988" cy="2582399"/>
            <a:chOff x="0" y="0"/>
            <a:chExt cx="1010038" cy="680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563069" y="4646478"/>
            <a:ext cx="4371265" cy="5993025"/>
          </a:xfrm>
          <a:custGeom>
            <a:avLst/>
            <a:gdLst/>
            <a:ahLst/>
            <a:cxnLst/>
            <a:rect r="r" b="b" t="t" l="l"/>
            <a:pathLst>
              <a:path h="5993025" w="4371265">
                <a:moveTo>
                  <a:pt x="0" y="0"/>
                </a:moveTo>
                <a:lnTo>
                  <a:pt x="4371265" y="0"/>
                </a:lnTo>
                <a:lnTo>
                  <a:pt x="4371265" y="5993025"/>
                </a:lnTo>
                <a:lnTo>
                  <a:pt x="0" y="599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5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2562354">
            <a:off x="15379808" y="5443239"/>
            <a:ext cx="759242" cy="66433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42534" y="5226217"/>
            <a:ext cx="3741069" cy="5013158"/>
          </a:xfrm>
          <a:custGeom>
            <a:avLst/>
            <a:gdLst/>
            <a:ahLst/>
            <a:cxnLst/>
            <a:rect r="r" b="b" t="t" l="l"/>
            <a:pathLst>
              <a:path h="5013158" w="3741069">
                <a:moveTo>
                  <a:pt x="0" y="0"/>
                </a:moveTo>
                <a:lnTo>
                  <a:pt x="3741068" y="0"/>
                </a:lnTo>
                <a:lnTo>
                  <a:pt x="3741068" y="5013158"/>
                </a:lnTo>
                <a:lnTo>
                  <a:pt x="0" y="5013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02592" y="5514029"/>
            <a:ext cx="4772971" cy="4772971"/>
          </a:xfrm>
          <a:custGeom>
            <a:avLst/>
            <a:gdLst/>
            <a:ahLst/>
            <a:cxnLst/>
            <a:rect r="r" b="b" t="t" l="l"/>
            <a:pathLst>
              <a:path h="4772971" w="4772971">
                <a:moveTo>
                  <a:pt x="0" y="0"/>
                </a:moveTo>
                <a:lnTo>
                  <a:pt x="4772971" y="0"/>
                </a:lnTo>
                <a:lnTo>
                  <a:pt x="4772971" y="4772971"/>
                </a:lnTo>
                <a:lnTo>
                  <a:pt x="0" y="4772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87683" y="904875"/>
            <a:ext cx="285616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66997" y="3803171"/>
            <a:ext cx="297247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Jenny Vargas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87683" y="3803171"/>
            <a:ext cx="347119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Matias Villegas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626" y="3803171"/>
            <a:ext cx="37139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Eduardo Zamora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44723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Diseñador, PO, Desarrollador Frontend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2056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 Scrum Master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058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Analista de datos</a:t>
            </a:r>
          </a:p>
        </p:txBody>
      </p:sp>
      <p:grpSp>
        <p:nvGrpSpPr>
          <p:cNvPr name="Group 28" id="28"/>
          <p:cNvGrpSpPr/>
          <p:nvPr/>
        </p:nvGrpSpPr>
        <p:grpSpPr>
          <a:xfrm rot="-2562354">
            <a:off x="9775004" y="5395614"/>
            <a:ext cx="759242" cy="664337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562354">
            <a:off x="4137667" y="5395614"/>
            <a:ext cx="759242" cy="664337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592" y="9923781"/>
            <a:ext cx="118467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64519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31096" y="0"/>
            <a:ext cx="10156904" cy="10287000"/>
          </a:xfrm>
          <a:custGeom>
            <a:avLst/>
            <a:gdLst/>
            <a:ahLst/>
            <a:cxnLst/>
            <a:rect r="r" b="b" t="t" l="l"/>
            <a:pathLst>
              <a:path h="10287000" w="10156904">
                <a:moveTo>
                  <a:pt x="0" y="0"/>
                </a:moveTo>
                <a:lnTo>
                  <a:pt x="10156904" y="0"/>
                </a:lnTo>
                <a:lnTo>
                  <a:pt x="101569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016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86031"/>
            <a:ext cx="6007553" cy="310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Hoy en las ciudad</a:t>
            </a: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 hay cada vez más vehículos, y eso hace que moverse y encontrar estacionamiento sea un problema diario. Pero la tecnología está abriendo nuevas oportunidades, conectando a conductores con dueños de espacios y permitiendo aprovechar mejor los lugares que ya existen.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3882890" cy="107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6"/>
              </a:lnSpc>
              <a:spcBef>
                <a:spcPct val="0"/>
              </a:spcBef>
            </a:pPr>
            <a:r>
              <a:rPr lang="en-US" b="true" sz="63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9472" y="0"/>
            <a:ext cx="8408528" cy="10287000"/>
            <a:chOff x="0" y="0"/>
            <a:chExt cx="221459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14592">
                  <a:moveTo>
                    <a:pt x="0" y="0"/>
                  </a:moveTo>
                  <a:lnTo>
                    <a:pt x="2214592" y="0"/>
                  </a:lnTo>
                  <a:lnTo>
                    <a:pt x="2214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14592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082" y="9923781"/>
            <a:ext cx="179487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5585" y="981075"/>
            <a:ext cx="199718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5585" y="1327149"/>
            <a:ext cx="9026649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Desafíos reales de la movilidad urbana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4462" y="5022776"/>
            <a:ext cx="3498467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Crecimiento del parque vehicular y déficit de estacionamiento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los últimos años se ha reportado que más del 10 % del tráfico en grandes ciudades deriva de conductores que recorren calles buscando estacionamiento.”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585" y="9580722"/>
            <a:ext cx="6631037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Fuente: Cedeus / Universidad de Chile / Tomas Rossetti (MIT).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585" y="5022776"/>
            <a:ext cx="3431669" cy="227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vehicular asociada a la búsqueda de estacionamiento</a:t>
            </a:r>
          </a:p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la Región Metropolitana hay más de 2 millones de vehículos. Cada dos viviendas debería haber un estacionamiento, pero la oferta no creció al mismo ritmo que el parque automotriz.”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09393" y="5022776"/>
            <a:ext cx="3430220" cy="25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Uso intensivo de uso de suelo en Santiago para estacionamientos</a:t>
            </a:r>
          </a:p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el centro de Santiago, se estima que existen 26 221 estacionamientos en solo 7,3 km² (aproximadamente 5 % del suelo urbano), lo que refleja una alta demanda de espacio para estacionar.”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94664" y="5022776"/>
            <a:ext cx="3664636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urbano de la densificación sin planificación adecuada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barrios densificados del Área Metropolitana de Santiago, los estacionamientos actúan como ‘terminales receptoras y generadoras de potencial congestión vehicular’.”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3773" y="3373687"/>
            <a:ext cx="18734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45426" y="3373687"/>
            <a:ext cx="1401334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5</a:t>
            </a: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585" y="3373687"/>
            <a:ext cx="6356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4985" y="3989394"/>
            <a:ext cx="1819275" cy="5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5"/>
              </a:lnSpc>
              <a:spcBef>
                <a:spcPct val="0"/>
              </a:spcBef>
            </a:pPr>
            <a:r>
              <a:rPr lang="en-US" b="true" sz="33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millones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263" y="9923781"/>
            <a:ext cx="181124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6195" y="1795609"/>
            <a:ext cx="22647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Detectada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06447" y="3621180"/>
            <a:ext cx="3008851" cy="2004647"/>
          </a:xfrm>
          <a:custGeom>
            <a:avLst/>
            <a:gdLst/>
            <a:ahLst/>
            <a:cxnLst/>
            <a:rect r="r" b="b" t="t" l="l"/>
            <a:pathLst>
              <a:path h="2004647" w="3008851">
                <a:moveTo>
                  <a:pt x="0" y="0"/>
                </a:moveTo>
                <a:lnTo>
                  <a:pt x="3008851" y="0"/>
                </a:lnTo>
                <a:lnTo>
                  <a:pt x="300885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83631" y="3621180"/>
            <a:ext cx="2921161" cy="2004647"/>
          </a:xfrm>
          <a:custGeom>
            <a:avLst/>
            <a:gdLst/>
            <a:ahLst/>
            <a:cxnLst/>
            <a:rect r="r" b="b" t="t" l="l"/>
            <a:pathLst>
              <a:path h="2004647" w="2921161">
                <a:moveTo>
                  <a:pt x="0" y="0"/>
                </a:moveTo>
                <a:lnTo>
                  <a:pt x="2921161" y="0"/>
                </a:lnTo>
                <a:lnTo>
                  <a:pt x="292116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71617" y="3620457"/>
            <a:ext cx="3009935" cy="2005370"/>
          </a:xfrm>
          <a:custGeom>
            <a:avLst/>
            <a:gdLst/>
            <a:ahLst/>
            <a:cxnLst/>
            <a:rect r="r" b="b" t="t" l="l"/>
            <a:pathLst>
              <a:path h="2005370" w="3009935">
                <a:moveTo>
                  <a:pt x="0" y="0"/>
                </a:moveTo>
                <a:lnTo>
                  <a:pt x="3009936" y="0"/>
                </a:lnTo>
                <a:lnTo>
                  <a:pt x="3009936" y="2005370"/>
                </a:lnTo>
                <a:lnTo>
                  <a:pt x="0" y="2005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6447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Reducir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la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urbana y el tiempo perdido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en la búsqueda de estacionamiento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3631" y="6102570"/>
            <a:ext cx="3008851" cy="164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Optimizar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el uso de espacios privados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no utilizados (estacionamientos particulares vacíos)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2702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alternativas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accesibles y seguras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para los conductores en zonas de alta demanda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7226" y="744061"/>
            <a:ext cx="4342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74773" y="2418544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66" y="9923781"/>
            <a:ext cx="181719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7472" y="0"/>
            <a:ext cx="15411236" cy="10287000"/>
          </a:xfrm>
          <a:custGeom>
            <a:avLst/>
            <a:gdLst/>
            <a:ahLst/>
            <a:cxnLst/>
            <a:rect r="r" b="b" t="t" l="l"/>
            <a:pathLst>
              <a:path h="10287000" w="15411236">
                <a:moveTo>
                  <a:pt x="0" y="0"/>
                </a:moveTo>
                <a:lnTo>
                  <a:pt x="15411236" y="0"/>
                </a:lnTo>
                <a:lnTo>
                  <a:pt x="154112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7472" y="0"/>
            <a:ext cx="7900528" cy="10287000"/>
            <a:chOff x="0" y="0"/>
            <a:chExt cx="208079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07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80797">
                  <a:moveTo>
                    <a:pt x="0" y="0"/>
                  </a:moveTo>
                  <a:lnTo>
                    <a:pt x="2080797" y="0"/>
                  </a:lnTo>
                  <a:lnTo>
                    <a:pt x="20807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08079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56842" y="541068"/>
            <a:ext cx="4861262" cy="9650148"/>
          </a:xfrm>
          <a:custGeom>
            <a:avLst/>
            <a:gdLst/>
            <a:ahLst/>
            <a:cxnLst/>
            <a:rect r="r" b="b" t="t" l="l"/>
            <a:pathLst>
              <a:path h="9650148" w="4861262">
                <a:moveTo>
                  <a:pt x="0" y="0"/>
                </a:moveTo>
                <a:lnTo>
                  <a:pt x="4861261" y="0"/>
                </a:lnTo>
                <a:lnTo>
                  <a:pt x="4861261" y="9650148"/>
                </a:lnTo>
                <a:lnTo>
                  <a:pt x="0" y="965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4029" y="2244807"/>
            <a:ext cx="402513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029" y="1745697"/>
            <a:ext cx="186384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4029" y="4136943"/>
            <a:ext cx="5943932" cy="432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 móvil para conectar a conductores con propietarios de estacionamientos.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Mapa interactivo para buscar y reservar espaci</a:t>
            </a: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os en tiempo real.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Registro de vehículos y perfil de usuario para facilitar la gestión.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Pagos en línea seguros mediante integración con pasarela de pago.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Optimiza espacios desocupados y mejora la movilidad urbana.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44029" y="3372555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231" y="9923781"/>
            <a:ext cx="179189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406972" cy="10287000"/>
            <a:chOff x="0" y="0"/>
            <a:chExt cx="326768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768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267680">
                  <a:moveTo>
                    <a:pt x="0" y="0"/>
                  </a:moveTo>
                  <a:lnTo>
                    <a:pt x="3267680" y="0"/>
                  </a:lnTo>
                  <a:lnTo>
                    <a:pt x="32676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67680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7132" y="811235"/>
            <a:ext cx="11552708" cy="8664531"/>
          </a:xfrm>
          <a:custGeom>
            <a:avLst/>
            <a:gdLst/>
            <a:ahLst/>
            <a:cxnLst/>
            <a:rect r="r" b="b" t="t" l="l"/>
            <a:pathLst>
              <a:path h="8664531" w="11552708">
                <a:moveTo>
                  <a:pt x="0" y="0"/>
                </a:moveTo>
                <a:lnTo>
                  <a:pt x="11552708" y="0"/>
                </a:lnTo>
                <a:lnTo>
                  <a:pt x="11552708" y="8664530"/>
                </a:lnTo>
                <a:lnTo>
                  <a:pt x="0" y="8664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2766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3693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7971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942" y="4251672"/>
            <a:ext cx="1377967" cy="1377967"/>
          </a:xfrm>
          <a:custGeom>
            <a:avLst/>
            <a:gdLst/>
            <a:ahLst/>
            <a:cxnLst/>
            <a:rect r="r" b="b" t="t" l="l"/>
            <a:pathLst>
              <a:path h="1377967" w="1377967">
                <a:moveTo>
                  <a:pt x="0" y="0"/>
                </a:moveTo>
                <a:lnTo>
                  <a:pt x="1377968" y="0"/>
                </a:lnTo>
                <a:lnTo>
                  <a:pt x="1377968" y="1377967"/>
                </a:lnTo>
                <a:lnTo>
                  <a:pt x="0" y="1377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2021" y="6428630"/>
            <a:ext cx="1578182" cy="1578182"/>
          </a:xfrm>
          <a:custGeom>
            <a:avLst/>
            <a:gdLst/>
            <a:ahLst/>
            <a:cxnLst/>
            <a:rect r="r" b="b" t="t" l="l"/>
            <a:pathLst>
              <a:path h="1578182" w="1578182">
                <a:moveTo>
                  <a:pt x="0" y="0"/>
                </a:moveTo>
                <a:lnTo>
                  <a:pt x="1578182" y="0"/>
                </a:lnTo>
                <a:lnTo>
                  <a:pt x="1578182" y="1578182"/>
                </a:lnTo>
                <a:lnTo>
                  <a:pt x="0" y="15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27668" y="7376929"/>
            <a:ext cx="1259766" cy="1259766"/>
          </a:xfrm>
          <a:custGeom>
            <a:avLst/>
            <a:gdLst/>
            <a:ahLst/>
            <a:cxnLst/>
            <a:rect r="r" b="b" t="t" l="l"/>
            <a:pathLst>
              <a:path h="1259766" w="1259766">
                <a:moveTo>
                  <a:pt x="0" y="0"/>
                </a:moveTo>
                <a:lnTo>
                  <a:pt x="1259767" y="0"/>
                </a:lnTo>
                <a:lnTo>
                  <a:pt x="1259767" y="1259766"/>
                </a:lnTo>
                <a:lnTo>
                  <a:pt x="0" y="1259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50541" y="6580799"/>
            <a:ext cx="1273844" cy="1273844"/>
          </a:xfrm>
          <a:custGeom>
            <a:avLst/>
            <a:gdLst/>
            <a:ahLst/>
            <a:cxnLst/>
            <a:rect r="r" b="b" t="t" l="l"/>
            <a:pathLst>
              <a:path h="1273844" w="1273844">
                <a:moveTo>
                  <a:pt x="0" y="0"/>
                </a:moveTo>
                <a:lnTo>
                  <a:pt x="1273844" y="0"/>
                </a:lnTo>
                <a:lnTo>
                  <a:pt x="1273844" y="1273844"/>
                </a:lnTo>
                <a:lnTo>
                  <a:pt x="0" y="1273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47475" y="4348152"/>
            <a:ext cx="1185007" cy="1185007"/>
          </a:xfrm>
          <a:custGeom>
            <a:avLst/>
            <a:gdLst/>
            <a:ahLst/>
            <a:cxnLst/>
            <a:rect r="r" b="b" t="t" l="l"/>
            <a:pathLst>
              <a:path h="1185007" w="1185007">
                <a:moveTo>
                  <a:pt x="0" y="0"/>
                </a:moveTo>
                <a:lnTo>
                  <a:pt x="1185007" y="0"/>
                </a:lnTo>
                <a:lnTo>
                  <a:pt x="1185007" y="1185007"/>
                </a:lnTo>
                <a:lnTo>
                  <a:pt x="0" y="11850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46802" y="2146347"/>
            <a:ext cx="2713367" cy="117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7"/>
              </a:lnSpc>
            </a:pPr>
            <a:r>
              <a:rPr lang="en-US" sz="68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63910" y="3453378"/>
            <a:ext cx="3478566" cy="11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9"/>
              </a:lnSpc>
              <a:spcBef>
                <a:spcPct val="0"/>
              </a:spcBef>
            </a:pP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 una historia grande de usuario que agrupa varias funcionalidades relacionadas y que normalmente se divide en múltiples historias de usuario más pequeñas para poder implementarla en distintos sprints.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06144" y="1834637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Agrupa todo lo que tiene que ver con crear y recuperar acceso a la cuenta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144" y="1009409"/>
            <a:ext cx="3210422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Épica de Autenticación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Seguridad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06144" y="3688408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estión de datos personales, vehículos </a:t>
            </a:r>
          </a:p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 configuración de la cuenta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06144" y="2863181"/>
            <a:ext cx="354462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Perfil de Usuario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Configuración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06144" y="5540416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esde la búsqueda de estacionamientos hasta la confirmación de la 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06144" y="4715189"/>
            <a:ext cx="254988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Exploración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Reservas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06144" y="7038468"/>
            <a:ext cx="30948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dministración de métodos de pago, historial y cuentas bancarias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06144" y="6567197"/>
            <a:ext cx="2183165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Pagos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06144" y="8890476"/>
            <a:ext cx="3358347" cy="80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 el flujo de convertirse en arrendador, crear, editar y publicar un estacionamiento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06144" y="8065249"/>
            <a:ext cx="2765793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Gestión de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Espacios (Arrendador)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859" y="9923781"/>
            <a:ext cx="1799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9244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92440" y="2367793"/>
            <a:ext cx="13093370" cy="7775996"/>
          </a:xfrm>
          <a:custGeom>
            <a:avLst/>
            <a:gdLst/>
            <a:ahLst/>
            <a:cxnLst/>
            <a:rect r="r" b="b" t="t" l="l"/>
            <a:pathLst>
              <a:path h="7775996" w="13093370">
                <a:moveTo>
                  <a:pt x="0" y="0"/>
                </a:moveTo>
                <a:lnTo>
                  <a:pt x="13093370" y="0"/>
                </a:lnTo>
                <a:lnTo>
                  <a:pt x="13093370" y="7775996"/>
                </a:lnTo>
                <a:lnTo>
                  <a:pt x="0" y="777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2" t="-2993" r="0" b="-34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2440" y="904875"/>
            <a:ext cx="538809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59" y="9923781"/>
            <a:ext cx="1799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83238" y="9549097"/>
            <a:ext cx="3924151" cy="613851"/>
            <a:chOff x="0" y="0"/>
            <a:chExt cx="1033521" cy="161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3521" cy="161673"/>
            </a:xfrm>
            <a:custGeom>
              <a:avLst/>
              <a:gdLst/>
              <a:ahLst/>
              <a:cxnLst/>
              <a:rect r="r" b="b" t="t" l="l"/>
              <a:pathLst>
                <a:path h="161673" w="1033521">
                  <a:moveTo>
                    <a:pt x="0" y="0"/>
                  </a:moveTo>
                  <a:lnTo>
                    <a:pt x="1033521" y="0"/>
                  </a:lnTo>
                  <a:lnTo>
                    <a:pt x="1033521" y="161673"/>
                  </a:lnTo>
                  <a:lnTo>
                    <a:pt x="0" y="161673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3521" cy="199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7902" y="1588898"/>
            <a:ext cx="1107636" cy="191960"/>
            <a:chOff x="0" y="0"/>
            <a:chExt cx="1476848" cy="2559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48913" y="1886754"/>
            <a:ext cx="13368538" cy="8400246"/>
          </a:xfrm>
          <a:custGeom>
            <a:avLst/>
            <a:gdLst/>
            <a:ahLst/>
            <a:cxnLst/>
            <a:rect r="r" b="b" t="t" l="l"/>
            <a:pathLst>
              <a:path h="8400246" w="13368538">
                <a:moveTo>
                  <a:pt x="0" y="0"/>
                </a:moveTo>
                <a:lnTo>
                  <a:pt x="13368538" y="0"/>
                </a:lnTo>
                <a:lnTo>
                  <a:pt x="13368538" y="8400246"/>
                </a:lnTo>
                <a:lnTo>
                  <a:pt x="0" y="8400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" t="-1278" r="0" b="-164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7902" y="461150"/>
            <a:ext cx="690741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923781"/>
            <a:ext cx="3622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99409"/>
            <a:ext cx="14736075" cy="7853872"/>
          </a:xfrm>
          <a:custGeom>
            <a:avLst/>
            <a:gdLst/>
            <a:ahLst/>
            <a:cxnLst/>
            <a:rect r="r" b="b" t="t" l="l"/>
            <a:pathLst>
              <a:path h="7853872" w="14736075">
                <a:moveTo>
                  <a:pt x="0" y="0"/>
                </a:moveTo>
                <a:lnTo>
                  <a:pt x="14736075" y="0"/>
                </a:lnTo>
                <a:lnTo>
                  <a:pt x="14736075" y="7853872"/>
                </a:lnTo>
                <a:lnTo>
                  <a:pt x="0" y="785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806" r="0" b="-104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07849" y="3482219"/>
            <a:ext cx="287692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Marco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7849" y="4287308"/>
            <a:ext cx="5642468" cy="20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168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SCRUM es un enfoque ágil que permite a los equipos desarrollar productos de manera iterativa, promoviendo la colaboración, la comunicación constante y la adaptabilidad a los cambios. Su objetivo es maximizar la entrega de valor de manera eficiente y efectiva.</a:t>
            </a:r>
          </a:p>
          <a:p>
            <a:pPr algn="l">
              <a:lnSpc>
                <a:spcPts val="447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7009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Ágil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145176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96514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87215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7666" y="3302366"/>
            <a:ext cx="629166" cy="629166"/>
          </a:xfrm>
          <a:custGeom>
            <a:avLst/>
            <a:gdLst/>
            <a:ahLst/>
            <a:cxnLst/>
            <a:rect r="r" b="b" t="t" l="l"/>
            <a:pathLst>
              <a:path h="629166" w="629166">
                <a:moveTo>
                  <a:pt x="0" y="0"/>
                </a:moveTo>
                <a:lnTo>
                  <a:pt x="629167" y="0"/>
                </a:lnTo>
                <a:lnTo>
                  <a:pt x="629167" y="629166"/>
                </a:lnTo>
                <a:lnTo>
                  <a:pt x="0" y="629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9321" y="4697617"/>
            <a:ext cx="525856" cy="581928"/>
          </a:xfrm>
          <a:custGeom>
            <a:avLst/>
            <a:gdLst/>
            <a:ahLst/>
            <a:cxnLst/>
            <a:rect r="r" b="b" t="t" l="l"/>
            <a:pathLst>
              <a:path h="581928" w="525856">
                <a:moveTo>
                  <a:pt x="0" y="0"/>
                </a:moveTo>
                <a:lnTo>
                  <a:pt x="525857" y="0"/>
                </a:lnTo>
                <a:lnTo>
                  <a:pt x="525857" y="581928"/>
                </a:lnTo>
                <a:lnTo>
                  <a:pt x="0" y="581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5289" y="7425848"/>
            <a:ext cx="593920" cy="593920"/>
          </a:xfrm>
          <a:custGeom>
            <a:avLst/>
            <a:gdLst/>
            <a:ahLst/>
            <a:cxnLst/>
            <a:rect r="r" b="b" t="t" l="l"/>
            <a:pathLst>
              <a:path h="593920" w="593920">
                <a:moveTo>
                  <a:pt x="0" y="0"/>
                </a:moveTo>
                <a:lnTo>
                  <a:pt x="593921" y="0"/>
                </a:lnTo>
                <a:lnTo>
                  <a:pt x="593921" y="593920"/>
                </a:lnTo>
                <a:lnTo>
                  <a:pt x="0" y="59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34065" y="6100590"/>
            <a:ext cx="675210" cy="543644"/>
          </a:xfrm>
          <a:custGeom>
            <a:avLst/>
            <a:gdLst/>
            <a:ahLst/>
            <a:cxnLst/>
            <a:rect r="r" b="b" t="t" l="l"/>
            <a:pathLst>
              <a:path h="543644" w="675210">
                <a:moveTo>
                  <a:pt x="0" y="0"/>
                </a:moveTo>
                <a:lnTo>
                  <a:pt x="675211" y="0"/>
                </a:lnTo>
                <a:lnTo>
                  <a:pt x="675211" y="543643"/>
                </a:lnTo>
                <a:lnTo>
                  <a:pt x="0" y="543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91163" y="7378608"/>
            <a:ext cx="561015" cy="641160"/>
          </a:xfrm>
          <a:custGeom>
            <a:avLst/>
            <a:gdLst/>
            <a:ahLst/>
            <a:cxnLst/>
            <a:rect r="r" b="b" t="t" l="l"/>
            <a:pathLst>
              <a:path h="641160" w="561015">
                <a:moveTo>
                  <a:pt x="0" y="0"/>
                </a:moveTo>
                <a:lnTo>
                  <a:pt x="561015" y="0"/>
                </a:lnTo>
                <a:lnTo>
                  <a:pt x="561015" y="641160"/>
                </a:lnTo>
                <a:lnTo>
                  <a:pt x="0" y="641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62614" y="8753193"/>
            <a:ext cx="618113" cy="618113"/>
          </a:xfrm>
          <a:custGeom>
            <a:avLst/>
            <a:gdLst/>
            <a:ahLst/>
            <a:cxnLst/>
            <a:rect r="r" b="b" t="t" l="l"/>
            <a:pathLst>
              <a:path h="618113" w="618113">
                <a:moveTo>
                  <a:pt x="0" y="0"/>
                </a:moveTo>
                <a:lnTo>
                  <a:pt x="618113" y="0"/>
                </a:lnTo>
                <a:lnTo>
                  <a:pt x="618113" y="618113"/>
                </a:lnTo>
                <a:lnTo>
                  <a:pt x="0" y="6181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76308" y="3315752"/>
            <a:ext cx="632968" cy="564707"/>
          </a:xfrm>
          <a:custGeom>
            <a:avLst/>
            <a:gdLst/>
            <a:ahLst/>
            <a:cxnLst/>
            <a:rect r="r" b="b" t="t" l="l"/>
            <a:pathLst>
              <a:path h="564707" w="632968">
                <a:moveTo>
                  <a:pt x="0" y="0"/>
                </a:moveTo>
                <a:lnTo>
                  <a:pt x="632968" y="0"/>
                </a:lnTo>
                <a:lnTo>
                  <a:pt x="632968" y="564707"/>
                </a:lnTo>
                <a:lnTo>
                  <a:pt x="0" y="564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2000" y="8781768"/>
            <a:ext cx="674833" cy="655400"/>
          </a:xfrm>
          <a:custGeom>
            <a:avLst/>
            <a:gdLst/>
            <a:ahLst/>
            <a:cxnLst/>
            <a:rect r="r" b="b" t="t" l="l"/>
            <a:pathLst>
              <a:path h="655400" w="674833">
                <a:moveTo>
                  <a:pt x="0" y="0"/>
                </a:moveTo>
                <a:lnTo>
                  <a:pt x="674833" y="0"/>
                </a:lnTo>
                <a:lnTo>
                  <a:pt x="67483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10540" y="4709358"/>
            <a:ext cx="570187" cy="570187"/>
          </a:xfrm>
          <a:custGeom>
            <a:avLst/>
            <a:gdLst/>
            <a:ahLst/>
            <a:cxnLst/>
            <a:rect r="r" b="b" t="t" l="l"/>
            <a:pathLst>
              <a:path h="570187" w="570187">
                <a:moveTo>
                  <a:pt x="0" y="0"/>
                </a:moveTo>
                <a:lnTo>
                  <a:pt x="570187" y="0"/>
                </a:lnTo>
                <a:lnTo>
                  <a:pt x="570187" y="570187"/>
                </a:lnTo>
                <a:lnTo>
                  <a:pt x="0" y="5701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87666" y="6122769"/>
            <a:ext cx="611543" cy="459855"/>
          </a:xfrm>
          <a:custGeom>
            <a:avLst/>
            <a:gdLst/>
            <a:ahLst/>
            <a:cxnLst/>
            <a:rect r="r" b="b" t="t" l="l"/>
            <a:pathLst>
              <a:path h="459855" w="611543">
                <a:moveTo>
                  <a:pt x="0" y="0"/>
                </a:moveTo>
                <a:lnTo>
                  <a:pt x="611544" y="0"/>
                </a:lnTo>
                <a:lnTo>
                  <a:pt x="611544" y="459855"/>
                </a:lnTo>
                <a:lnTo>
                  <a:pt x="0" y="459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949715" y="904875"/>
            <a:ext cx="438856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7153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5" tooltip="https://docs.google.com/spreadsheets/d/1xGlfAx5gp1nKPONwn1EWF0-LS5RJuEvT/edit?usp=drive_link&amp;ouid=112137381175738937054&amp;rtpof=true&amp;sd=true"/>
              </a:rPr>
              <a:t>Product backlog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52897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6" tooltip="https://docs.google.com/spreadsheets/d/1Z_CEjZBNUBeKzM4430rDpj5ILq93EWUaVkd3A417FJI/edit?usp=drive_link"/>
              </a:rPr>
              <a:t>Impediment 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97153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backlog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52897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Incremento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97153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Kanban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2897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7153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Daily Scrum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52897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Acta Sprint Review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97153" y="8896902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Burndown Chart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04238" y="8896902"/>
            <a:ext cx="244988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Retrospective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90645"/>
            <a:ext cx="18288000" cy="5806440"/>
          </a:xfrm>
          <a:custGeom>
            <a:avLst/>
            <a:gdLst/>
            <a:ahLst/>
            <a:cxnLst/>
            <a:rect r="r" b="b" t="t" l="l"/>
            <a:pathLst>
              <a:path h="5806440" w="18288000">
                <a:moveTo>
                  <a:pt x="0" y="0"/>
                </a:moveTo>
                <a:lnTo>
                  <a:pt x="18288000" y="0"/>
                </a:lnTo>
                <a:lnTo>
                  <a:pt x="18288000" y="5806440"/>
                </a:lnTo>
                <a:lnTo>
                  <a:pt x="0" y="580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95" y="2032623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09476" y="5165973"/>
            <a:ext cx="958977" cy="9589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99070" y="5188446"/>
            <a:ext cx="958977" cy="958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37447" y="5188446"/>
            <a:ext cx="958977" cy="958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04834" y="5188446"/>
            <a:ext cx="958977" cy="9589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40311" y="5188446"/>
            <a:ext cx="958977" cy="9589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70952" y="821458"/>
            <a:ext cx="2960117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49723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39317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04759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16072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85404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276" y="6958446"/>
            <a:ext cx="2729377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eer a los usuarios un acceso seguro y u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primera experiencia de exploración de estacionamientos en el mapa, con información básica y en tiempo real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354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al 12 de Septiembre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6183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al 26 de Septiembre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6456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 de Septiembre al 10 de Octubre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02937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al 24 de Octubre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41064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 de Octubre al 7 de Noviembre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13870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usuarios gestio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nar reservas completas con validación en tiempo real, vehículos asociados y confirmación de la transacción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78555" y="2535419"/>
            <a:ext cx="9944912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Antes de iniciar los sprints de desarrollo, realizamos un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dedicado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la planificación, definición de arquitectura y configuración de entornos, lo que nos permitió come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nzar con bases sólidas.</a:t>
            </a:r>
          </a:p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Luego de completar los cinco sprints, ejecutamos un conjunto de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tareas de cierre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enfocadas en el despliegue a producción, la incorporación de analytics y métricas de negocio, la documentación técnica y de usuario, el plan de soporte y mantenimiento, y pruebas de carga para garantizar la estabilidad del sistema.</a:t>
            </a:r>
          </a:p>
          <a:p>
            <a:pPr algn="just">
              <a:lnSpc>
                <a:spcPts val="2217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686322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un sistema de pagos seguro y co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nfiable que permita completar reservas con métodos registrados y comprobantes digitales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77699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prop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ietarios herramientas para administrar sus espacios, interactuar con arrendatarios y gestionar la calidad del servicio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55111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Consolida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la experiencia del usuario med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iante favoritos, soporte integrado, mayor seguridad y un sistema más rápido y confiable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88613"/>
            <a:ext cx="7261900" cy="143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ntes de iniciar los sprints de desarrollo, realizamos un Sprint 0 dedicado a la planificación, definición de arquitectura y configuración de entornos, lo que nos permitió comenzar con bases sólidas.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95152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567" y="5271456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Prototipo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567" y="5766520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Tablero kanban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662824" y="3729457"/>
            <a:ext cx="3458909" cy="6708188"/>
          </a:xfrm>
          <a:custGeom>
            <a:avLst/>
            <a:gdLst/>
            <a:ahLst/>
            <a:cxnLst/>
            <a:rect r="r" b="b" t="t" l="l"/>
            <a:pathLst>
              <a:path h="6708188" w="3458909">
                <a:moveTo>
                  <a:pt x="0" y="0"/>
                </a:moveTo>
                <a:lnTo>
                  <a:pt x="3458909" y="0"/>
                </a:lnTo>
                <a:lnTo>
                  <a:pt x="3458909" y="6708188"/>
                </a:lnTo>
                <a:lnTo>
                  <a:pt x="0" y="67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742014"/>
            <a:ext cx="3381364" cy="6557798"/>
          </a:xfrm>
          <a:custGeom>
            <a:avLst/>
            <a:gdLst/>
            <a:ahLst/>
            <a:cxnLst/>
            <a:rect r="r" b="b" t="t" l="l"/>
            <a:pathLst>
              <a:path h="6557798" w="3381364">
                <a:moveTo>
                  <a:pt x="0" y="0"/>
                </a:moveTo>
                <a:lnTo>
                  <a:pt x="3381364" y="0"/>
                </a:lnTo>
                <a:lnTo>
                  <a:pt x="3381364" y="6557798"/>
                </a:lnTo>
                <a:lnTo>
                  <a:pt x="0" y="6557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2705" y="4742014"/>
            <a:ext cx="3323420" cy="6445421"/>
          </a:xfrm>
          <a:custGeom>
            <a:avLst/>
            <a:gdLst/>
            <a:ahLst/>
            <a:cxnLst/>
            <a:rect r="r" b="b" t="t" l="l"/>
            <a:pathLst>
              <a:path h="6445421" w="3323420">
                <a:moveTo>
                  <a:pt x="0" y="0"/>
                </a:moveTo>
                <a:lnTo>
                  <a:pt x="3323420" y="0"/>
                </a:lnTo>
                <a:lnTo>
                  <a:pt x="3323420" y="6445421"/>
                </a:lnTo>
                <a:lnTo>
                  <a:pt x="0" y="6445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498821"/>
            <a:ext cx="8918726" cy="914169"/>
          </a:xfrm>
          <a:custGeom>
            <a:avLst/>
            <a:gdLst/>
            <a:ahLst/>
            <a:cxnLst/>
            <a:rect r="r" b="b" t="t" l="l"/>
            <a:pathLst>
              <a:path h="914169" w="8918726">
                <a:moveTo>
                  <a:pt x="0" y="0"/>
                </a:moveTo>
                <a:lnTo>
                  <a:pt x="8918726" y="0"/>
                </a:lnTo>
                <a:lnTo>
                  <a:pt x="8918726" y="914169"/>
                </a:lnTo>
                <a:lnTo>
                  <a:pt x="0" y="914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632111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1308416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spreadsheets/d/1M6WrG0VjQUX9UrdUqHZtxs6QC7YA1Jk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Proveer a los usuarios un acceso seguro y una primera experiencia de exploración de estacionamientos en el mapa, con información básica y en tiempo real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743604"/>
            <a:ext cx="5533170" cy="10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-Distribuir de mejor manera las tareas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-Pactar días para las ceremonias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1801607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10" tooltip="https://docs.google.com/document/d/1OwtJD4nhC9p2fsx-AaKZAEJU2WQQteM4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9224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895566" y="4196321"/>
            <a:ext cx="3099017" cy="6356958"/>
          </a:xfrm>
          <a:custGeom>
            <a:avLst/>
            <a:gdLst/>
            <a:ahLst/>
            <a:cxnLst/>
            <a:rect r="r" b="b" t="t" l="l"/>
            <a:pathLst>
              <a:path h="6356958" w="3099017">
                <a:moveTo>
                  <a:pt x="0" y="0"/>
                </a:moveTo>
                <a:lnTo>
                  <a:pt x="3099017" y="0"/>
                </a:lnTo>
                <a:lnTo>
                  <a:pt x="30990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936714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40083" y="4936714"/>
            <a:ext cx="3130802" cy="6356958"/>
          </a:xfrm>
          <a:custGeom>
            <a:avLst/>
            <a:gdLst/>
            <a:ahLst/>
            <a:cxnLst/>
            <a:rect r="r" b="b" t="t" l="l"/>
            <a:pathLst>
              <a:path h="6356958" w="3130802">
                <a:moveTo>
                  <a:pt x="0" y="0"/>
                </a:moveTo>
                <a:lnTo>
                  <a:pt x="3130802" y="0"/>
                </a:lnTo>
                <a:lnTo>
                  <a:pt x="313080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jdONXc1t0PXaUMvGRAbBnw6lfiJ83BG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 a los usuarios gestionar reservas completas con validación en tiempo real, vehículos asociados y confirmación de la transacción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175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-Dedicar un espacio fijo dentro del sprint a documentación técnica y de QA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-Estimar mejor las HU que involucran integraciones externas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Oj1q8tDDRZem7NqIr1ewuQP1Zf3fewZ2/edit?usp=drive_link&amp;ouid=112137381175738937054&amp;rtpof=true&amp;sd=true"/>
              </a:rPr>
              <a:t>Acta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992283" y="3930042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76079" y="4709407"/>
            <a:ext cx="3083125" cy="6356958"/>
          </a:xfrm>
          <a:custGeom>
            <a:avLst/>
            <a:gdLst/>
            <a:ahLst/>
            <a:cxnLst/>
            <a:rect r="r" b="b" t="t" l="l"/>
            <a:pathLst>
              <a:path h="6356958" w="3083125">
                <a:moveTo>
                  <a:pt x="0" y="0"/>
                </a:moveTo>
                <a:lnTo>
                  <a:pt x="3083125" y="0"/>
                </a:lnTo>
                <a:lnTo>
                  <a:pt x="30831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78233" y="4709407"/>
            <a:ext cx="3114910" cy="6356958"/>
          </a:xfrm>
          <a:custGeom>
            <a:avLst/>
            <a:gdLst/>
            <a:ahLst/>
            <a:cxnLst/>
            <a:rect r="r" b="b" t="t" l="l"/>
            <a:pathLst>
              <a:path h="6356958" w="3114910">
                <a:moveTo>
                  <a:pt x="0" y="0"/>
                </a:moveTo>
                <a:lnTo>
                  <a:pt x="3114909" y="0"/>
                </a:lnTo>
                <a:lnTo>
                  <a:pt x="31149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bSDjIef_2pyLwfZD-jQxus_vRkz-D_my/edit?gid=1128254782#gid=1128254782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un sistema de pagos seguro y confiable que permita completar reservas con métodos registrados y comprobantes digitales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-Documentar de forma centralizada los procedimientos de integración con pasarelas de pago para futuros sprints.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-Implementar ambientes de prueba más estables y sincronizados con producción simulada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1LOffbEAF8JSLyVwKgfzznAw6T2c9we5/edit"/>
              </a:rPr>
              <a:t>Acta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394081" y="4196321"/>
            <a:ext cx="3035448" cy="6356958"/>
          </a:xfrm>
          <a:custGeom>
            <a:avLst/>
            <a:gdLst/>
            <a:ahLst/>
            <a:cxnLst/>
            <a:rect r="r" b="b" t="t" l="l"/>
            <a:pathLst>
              <a:path h="6356958" w="3035448">
                <a:moveTo>
                  <a:pt x="0" y="0"/>
                </a:moveTo>
                <a:lnTo>
                  <a:pt x="3035447" y="0"/>
                </a:lnTo>
                <a:lnTo>
                  <a:pt x="30354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92282" y="5143500"/>
            <a:ext cx="3083125" cy="6356958"/>
          </a:xfrm>
          <a:custGeom>
            <a:avLst/>
            <a:gdLst/>
            <a:ahLst/>
            <a:cxnLst/>
            <a:rect r="r" b="b" t="t" l="l"/>
            <a:pathLst>
              <a:path h="6356958" w="3083125">
                <a:moveTo>
                  <a:pt x="0" y="0"/>
                </a:moveTo>
                <a:lnTo>
                  <a:pt x="3083125" y="0"/>
                </a:lnTo>
                <a:lnTo>
                  <a:pt x="30831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05775" y="5143500"/>
            <a:ext cx="3043394" cy="6356958"/>
          </a:xfrm>
          <a:custGeom>
            <a:avLst/>
            <a:gdLst/>
            <a:ahLst/>
            <a:cxnLst/>
            <a:rect r="r" b="b" t="t" l="l"/>
            <a:pathLst>
              <a:path h="6356958" w="3043394">
                <a:moveTo>
                  <a:pt x="0" y="0"/>
                </a:moveTo>
                <a:lnTo>
                  <a:pt x="3043394" y="0"/>
                </a:lnTo>
                <a:lnTo>
                  <a:pt x="30433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gjIfeXNq463w78bu3u1wyv_eG2TMqbkv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y optimizar las funcionalidades para los arrendadores, permitiendo la gestión completa de sus espacios y la comunicación directa con los arrendatarios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-Definir con más detalle los flujos complejos antes del inicio del sprint (por ejemplo, pantallas de múltiples pasos)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-Evaluar la posibilidad de realizar demos intermedias durante el sprint para detectar problemas de integración tempranamente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8J4kWRuvRX4Xsd6N8bplagS9uBrLmSQ6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153197" y="4020108"/>
            <a:ext cx="3075179" cy="6356958"/>
          </a:xfrm>
          <a:custGeom>
            <a:avLst/>
            <a:gdLst/>
            <a:ahLst/>
            <a:cxnLst/>
            <a:rect r="r" b="b" t="t" l="l"/>
            <a:pathLst>
              <a:path h="6356958" w="3075179">
                <a:moveTo>
                  <a:pt x="0" y="0"/>
                </a:moveTo>
                <a:lnTo>
                  <a:pt x="3075179" y="0"/>
                </a:lnTo>
                <a:lnTo>
                  <a:pt x="307517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14876" y="4810857"/>
            <a:ext cx="3106963" cy="6356958"/>
          </a:xfrm>
          <a:custGeom>
            <a:avLst/>
            <a:gdLst/>
            <a:ahLst/>
            <a:cxnLst/>
            <a:rect r="r" b="b" t="t" l="l"/>
            <a:pathLst>
              <a:path h="6356958" w="3106963">
                <a:moveTo>
                  <a:pt x="0" y="0"/>
                </a:moveTo>
                <a:lnTo>
                  <a:pt x="3106964" y="0"/>
                </a:lnTo>
                <a:lnTo>
                  <a:pt x="310696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67662" y="4810857"/>
            <a:ext cx="3019555" cy="6356958"/>
          </a:xfrm>
          <a:custGeom>
            <a:avLst/>
            <a:gdLst/>
            <a:ahLst/>
            <a:cxnLst/>
            <a:rect r="r" b="b" t="t" l="l"/>
            <a:pathLst>
              <a:path h="6356958" w="3019555">
                <a:moveTo>
                  <a:pt x="0" y="0"/>
                </a:moveTo>
                <a:lnTo>
                  <a:pt x="3019555" y="0"/>
                </a:lnTo>
                <a:lnTo>
                  <a:pt x="301955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eev6rJngu0xv430XBH88T3PHS3NWDy-J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0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ejorar la experiencia de usuario mediante funciones de valor agregado y optimización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Distribuir mejor las tareas de cierre (QA, documentación, despliegue) para evitar concentrarlas en los últimos días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-Fomentar la creación de guías técnicas y de soporte desde etapas intermedias, para asegurar continuidad y trazabilidad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SknuEwx_ipN9DNabK4yRMv8Dsg425SrL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26733" y="2128603"/>
            <a:ext cx="9434534" cy="7979585"/>
          </a:xfrm>
          <a:custGeom>
            <a:avLst/>
            <a:gdLst/>
            <a:ahLst/>
            <a:cxnLst/>
            <a:rect r="r" b="b" t="t" l="l"/>
            <a:pathLst>
              <a:path h="7979585" w="9434534">
                <a:moveTo>
                  <a:pt x="0" y="0"/>
                </a:moveTo>
                <a:lnTo>
                  <a:pt x="9434534" y="0"/>
                </a:lnTo>
                <a:lnTo>
                  <a:pt x="9434534" y="7979585"/>
                </a:lnTo>
                <a:lnTo>
                  <a:pt x="0" y="79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9" r="-302" b="-17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36964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944090" y="2224583"/>
            <a:ext cx="12399819" cy="6788901"/>
          </a:xfrm>
          <a:custGeom>
            <a:avLst/>
            <a:gdLst/>
            <a:ahLst/>
            <a:cxnLst/>
            <a:rect r="r" b="b" t="t" l="l"/>
            <a:pathLst>
              <a:path h="6788901" w="12399819">
                <a:moveTo>
                  <a:pt x="0" y="0"/>
                </a:moveTo>
                <a:lnTo>
                  <a:pt x="12399820" y="0"/>
                </a:lnTo>
                <a:lnTo>
                  <a:pt x="12399820" y="6788901"/>
                </a:lnTo>
                <a:lnTo>
                  <a:pt x="0" y="6788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246043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Presupuesto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47">
            <a:off x="10432633" y="5765514"/>
            <a:ext cx="4582897" cy="8165517"/>
          </a:xfrm>
          <a:custGeom>
            <a:avLst/>
            <a:gdLst/>
            <a:ahLst/>
            <a:cxnLst/>
            <a:rect r="r" b="b" t="t" l="l"/>
            <a:pathLst>
              <a:path h="8165517" w="4582897">
                <a:moveTo>
                  <a:pt x="0" y="0"/>
                </a:moveTo>
                <a:lnTo>
                  <a:pt x="4582897" y="0"/>
                </a:lnTo>
                <a:lnTo>
                  <a:pt x="4582897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847">
            <a:off x="3571237" y="5766497"/>
            <a:ext cx="4388966" cy="8165517"/>
          </a:xfrm>
          <a:custGeom>
            <a:avLst/>
            <a:gdLst/>
            <a:ahLst/>
            <a:cxnLst/>
            <a:rect r="r" b="b" t="t" l="l"/>
            <a:pathLst>
              <a:path h="8165517" w="4388966">
                <a:moveTo>
                  <a:pt x="0" y="0"/>
                </a:moveTo>
                <a:lnTo>
                  <a:pt x="4388965" y="0"/>
                </a:lnTo>
                <a:lnTo>
                  <a:pt x="4388965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847">
            <a:off x="7245112" y="4013617"/>
            <a:ext cx="4113379" cy="8165517"/>
          </a:xfrm>
          <a:custGeom>
            <a:avLst/>
            <a:gdLst/>
            <a:ahLst/>
            <a:cxnLst/>
            <a:rect r="r" b="b" t="t" l="l"/>
            <a:pathLst>
              <a:path h="8165517" w="4113379">
                <a:moveTo>
                  <a:pt x="0" y="0"/>
                </a:moveTo>
                <a:lnTo>
                  <a:pt x="4113379" y="0"/>
                </a:lnTo>
                <a:lnTo>
                  <a:pt x="4113379" y="8165518"/>
                </a:lnTo>
                <a:lnTo>
                  <a:pt x="0" y="816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55381" y="3280270"/>
            <a:ext cx="1391501" cy="241155"/>
            <a:chOff x="0" y="0"/>
            <a:chExt cx="1855334" cy="321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6897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33794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3259" y="1429143"/>
            <a:ext cx="7048107" cy="197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80"/>
              </a:lnSpc>
            </a:pPr>
            <a:r>
              <a:rPr lang="en-US" sz="1155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06848" y="1145533"/>
            <a:ext cx="1740034" cy="117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3"/>
              </a:lnSpc>
              <a:spcBef>
                <a:spcPct val="0"/>
              </a:spcBef>
            </a:pPr>
            <a:r>
              <a:rPr lang="en-US" sz="690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4746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95926" y="904875"/>
            <a:ext cx="5496148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901" y="4139356"/>
            <a:ext cx="4203314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desafió a crecer, asumir responsabilidades y crear soluciones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5396" y="3970511"/>
            <a:ext cx="4203314" cy="222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permitió poner en práctica nuestros conocimientos, fortalecer el trabajo en equipo y afrontar un desafío con impacto real en nuestro entorno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14891" y="3884522"/>
            <a:ext cx="3945568" cy="222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permitió salir de la zona de confort y comprobar que la formación recibida en Duoc nos prepara para afrontar desafíos reales del ámbito profesional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2459" y="5257019"/>
            <a:ext cx="2856756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Matias V.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00581" y="6203170"/>
            <a:ext cx="2907729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Eduardo Z.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3232" y="6002881"/>
            <a:ext cx="2457227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Jenny V.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6924" y="6279318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99687" y="193135"/>
            <a:ext cx="3202318" cy="6356958"/>
          </a:xfrm>
          <a:custGeom>
            <a:avLst/>
            <a:gdLst/>
            <a:ahLst/>
            <a:cxnLst/>
            <a:rect r="r" b="b" t="t" l="l"/>
            <a:pathLst>
              <a:path h="6356958" w="3202318">
                <a:moveTo>
                  <a:pt x="0" y="0"/>
                </a:moveTo>
                <a:lnTo>
                  <a:pt x="3202318" y="0"/>
                </a:lnTo>
                <a:lnTo>
                  <a:pt x="32023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0059" y="5342997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00059" y="-1276910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5145" y="3655013"/>
            <a:ext cx="7222235" cy="262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2"/>
              </a:lnSpc>
            </a:pPr>
            <a:r>
              <a:rPr lang="en-US" sz="153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5497" y="3084474"/>
            <a:ext cx="4596634" cy="156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4"/>
              </a:lnSpc>
              <a:spcBef>
                <a:spcPct val="0"/>
              </a:spcBef>
            </a:pPr>
            <a:r>
              <a:rPr lang="en-US" sz="9181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ParkChile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DAGxSVZd1gU</dc:identifier>
  <dcterms:modified xsi:type="dcterms:W3CDTF">2011-08-01T06:04:30Z</dcterms:modified>
  <cp:revision>1</cp:revision>
  <dc:title>Capstone ParkChile</dc:title>
</cp:coreProperties>
</file>