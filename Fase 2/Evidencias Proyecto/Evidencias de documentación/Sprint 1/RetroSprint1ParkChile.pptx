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  <p:embeddedFont>
      <p:font typeface="Helvetica Neue"/>
      <p:regular r:id="rId15"/>
      <p:bold r:id="rId16"/>
      <p:italic r:id="rId17"/>
      <p:boldItalic r:id="rId18"/>
    </p:embeddedFont>
    <p:embeddedFont>
      <p:font typeface="Helvetica Neue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zgRi2N7eX+UByH4Tr8hYh3QlY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bold.fntdata"/><Relationship Id="rId11" Type="http://schemas.openxmlformats.org/officeDocument/2006/relationships/slide" Target="slides/slide7.xml"/><Relationship Id="rId22" Type="http://schemas.openxmlformats.org/officeDocument/2006/relationships/font" Target="fonts/HelveticaNeueLight-boldItalic.fntdata"/><Relationship Id="rId10" Type="http://schemas.openxmlformats.org/officeDocument/2006/relationships/slide" Target="slides/slide6.xml"/><Relationship Id="rId21" Type="http://schemas.openxmlformats.org/officeDocument/2006/relationships/font" Target="fonts/HelveticaNeueLight-italic.fntdata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regular.fntdata"/><Relationship Id="rId14" Type="http://schemas.openxmlformats.org/officeDocument/2006/relationships/font" Target="fonts/Play-bold.fntdata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5" Type="http://schemas.openxmlformats.org/officeDocument/2006/relationships/slide" Target="slides/slide1.xml"/><Relationship Id="rId19" Type="http://schemas.openxmlformats.org/officeDocument/2006/relationships/font" Target="fonts/HelveticaNeueLight-regular.fntdata"/><Relationship Id="rId6" Type="http://schemas.openxmlformats.org/officeDocument/2006/relationships/slide" Target="slides/slide2.xml"/><Relationship Id="rId18" Type="http://schemas.openxmlformats.org/officeDocument/2006/relationships/font" Target="fonts/HelveticaNeue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663558" y="2511972"/>
            <a:ext cx="3941379" cy="9979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4800"/>
              <a:buFont typeface="Play"/>
              <a:buNone/>
            </a:pPr>
            <a:r>
              <a:rPr b="1" lang="es-ES" sz="4300">
                <a:solidFill>
                  <a:srgbClr val="5F5F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Retrospectiva</a:t>
            </a:r>
            <a:br>
              <a:rPr b="1" lang="es-ES" sz="3600">
                <a:solidFill>
                  <a:srgbClr val="5F5F5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s-ES" sz="1400">
                <a:solidFill>
                  <a:srgbClr val="5F5F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Sprint N°1 – </a:t>
            </a:r>
            <a:r>
              <a:rPr b="1" lang="es-ES" sz="1400">
                <a:solidFill>
                  <a:srgbClr val="5F5F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 01/09/2025 al 12/09/2025</a:t>
            </a:r>
            <a:endParaRPr b="1"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6663558" y="3602038"/>
            <a:ext cx="3941379" cy="1096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200"/>
              <a:buNone/>
            </a:pPr>
            <a:r>
              <a:rPr lang="es-ES" sz="1200">
                <a:solidFill>
                  <a:srgbClr val="5F5F5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La retrospectiva es un espacio en el que una persona, un equipo de trabajo u organización se reúnen para reflexionar sobre acontecimientos o hechos pasados que han impactado su devenir con el objetivo de acordar acciones que permitan mejorar de manera continua.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722" y="2127270"/>
            <a:ext cx="4863164" cy="2797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459" y="351824"/>
            <a:ext cx="863600" cy="9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6D1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>
            <p:ph type="title"/>
          </p:nvPr>
        </p:nvSpPr>
        <p:spPr>
          <a:xfrm>
            <a:off x="-406228" y="4917397"/>
            <a:ext cx="7053569" cy="2241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Helvetica Neue"/>
              <a:buNone/>
            </a:pPr>
            <a:r>
              <a:rPr b="1" lang="es-ES" sz="16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b="1" sz="6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6626320" y="1543721"/>
            <a:ext cx="999566" cy="79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5400"/>
              <a:buFont typeface="Arial"/>
              <a:buNone/>
            </a:pPr>
            <a:r>
              <a:rPr b="1" i="0" lang="es-ES" sz="5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7625886" y="3940260"/>
            <a:ext cx="4545093" cy="493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Revisión ciclo del sprint (aspectos positivos y negativos de la iteración)</a:t>
            </a:r>
            <a:endParaRPr b="0" i="0" sz="16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636397" y="5144906"/>
            <a:ext cx="4545093" cy="468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Accionables y champions</a:t>
            </a:r>
            <a:endParaRPr b="0" i="0" sz="16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7646907" y="2893379"/>
            <a:ext cx="4545093" cy="283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Compromisos retro anterior	</a:t>
            </a:r>
            <a:endParaRPr b="0" i="0" sz="16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7625885" y="1752151"/>
            <a:ext cx="4545093" cy="446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 in equipo - agradecimientos</a:t>
            </a:r>
            <a:endParaRPr b="0" i="0" sz="16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6636831" y="2668328"/>
            <a:ext cx="999566" cy="79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5400"/>
              <a:buFont typeface="Arial"/>
              <a:buNone/>
            </a:pPr>
            <a:r>
              <a:rPr b="1" i="0" lang="es-ES" sz="5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 b="1" i="0" sz="5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647341" y="3792935"/>
            <a:ext cx="999566" cy="79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5400"/>
              <a:buFont typeface="Arial"/>
              <a:buNone/>
            </a:pPr>
            <a:r>
              <a:rPr b="1" i="0" lang="es-ES" sz="5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 b="1" i="0" sz="5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647341" y="4915451"/>
            <a:ext cx="999566" cy="79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5400"/>
              <a:buFont typeface="Arial"/>
              <a:buNone/>
            </a:pPr>
            <a:r>
              <a:rPr b="1" i="0" lang="es-ES" sz="5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 b="1" i="0" sz="5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2"/>
          <p:cNvSpPr/>
          <p:nvPr/>
        </p:nvSpPr>
        <p:spPr>
          <a:xfrm rot="7574397">
            <a:off x="-1604124" y="761401"/>
            <a:ext cx="3084156" cy="198150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 rot="6224250">
            <a:off x="-648463" y="20984"/>
            <a:ext cx="3084156" cy="372013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6759146" y="1940010"/>
            <a:ext cx="4797510" cy="394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8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 un post it para dejar tu comentario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99921" y="3854500"/>
            <a:ext cx="1783500" cy="1686900"/>
          </a:xfrm>
          <a:prstGeom prst="foldedCorner">
            <a:avLst>
              <a:gd fmla="val 16667" name="adj"/>
            </a:avLst>
          </a:prstGeom>
          <a:solidFill>
            <a:srgbClr val="36D1CC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0" y="0"/>
            <a:ext cx="6277200" cy="6858000"/>
          </a:xfrm>
          <a:prstGeom prst="rect">
            <a:avLst/>
          </a:prstGeom>
          <a:solidFill>
            <a:srgbClr val="36D1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897" y="1940010"/>
            <a:ext cx="4374413" cy="438664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>
            <p:ph type="title"/>
          </p:nvPr>
        </p:nvSpPr>
        <p:spPr>
          <a:xfrm>
            <a:off x="882897" y="531341"/>
            <a:ext cx="437441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1" lang="es-ES" sz="2000">
                <a:solidFill>
                  <a:schemeClr val="lt1"/>
                </a:solidFill>
              </a:rPr>
              <a:t>Chek in – En la escala del gato ¿cómo te has sentido durante la mayor parte de este ciclo de trabajo?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2332550" y="2976000"/>
            <a:ext cx="1074600" cy="1256400"/>
          </a:xfrm>
          <a:prstGeom prst="foldedCorner">
            <a:avLst>
              <a:gd fmla="val 16667" name="adj"/>
            </a:avLst>
          </a:prstGeom>
          <a:solidFill>
            <a:srgbClr val="36D1CC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>
                <a:solidFill>
                  <a:schemeClr val="lt1"/>
                </a:solidFill>
              </a:rPr>
              <a:t>Matias Villegas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3832275" y="4445175"/>
            <a:ext cx="1074600" cy="1256400"/>
          </a:xfrm>
          <a:prstGeom prst="foldedCorner">
            <a:avLst>
              <a:gd fmla="val 16667" name="adj"/>
            </a:avLst>
          </a:prstGeom>
          <a:solidFill>
            <a:srgbClr val="36D1CC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>
                <a:solidFill>
                  <a:schemeClr val="lt1"/>
                </a:solidFill>
              </a:rPr>
              <a:t>Eduardo Zamora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99925" y="5416250"/>
            <a:ext cx="1074600" cy="1325700"/>
          </a:xfrm>
          <a:prstGeom prst="foldedCorner">
            <a:avLst>
              <a:gd fmla="val 16667" name="adj"/>
            </a:avLst>
          </a:prstGeom>
          <a:solidFill>
            <a:srgbClr val="36D1CC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>
                <a:solidFill>
                  <a:schemeClr val="lt1"/>
                </a:solidFill>
              </a:rPr>
              <a:t>Jenny Vargas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0" y="0"/>
            <a:ext cx="12192000" cy="640556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438682" y="472390"/>
            <a:ext cx="11239134" cy="1300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Agradecimientos</a:t>
            </a:r>
            <a:br>
              <a:rPr b="1" i="0" lang="es-ES" sz="24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1" i="0" sz="24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Demos un respiro al ciclo de trabajo y agradezcamos en público a un compañero/a por una labor o acción bien hecha</a:t>
            </a:r>
            <a:endParaRPr b="0" i="0" sz="1600" u="none" cap="none" strike="noStrike">
              <a:solidFill>
                <a:srgbClr val="3A3A3A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249982" y="6516173"/>
            <a:ext cx="9920528" cy="315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722"/>
              <a:buFont typeface="Arial"/>
              <a:buNone/>
            </a:pPr>
            <a:r>
              <a:rPr b="0" i="0" lang="es-ES" sz="140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Invita a tu equipo a dejar el nombre de quién agradece. De esta manera fomentamos un buen clima dentro de la célula. </a:t>
            </a:r>
            <a:endParaRPr b="0" i="0" sz="1400" u="none" cap="none" strike="noStrik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4"/>
          <p:cNvGrpSpPr/>
          <p:nvPr/>
        </p:nvGrpSpPr>
        <p:grpSpPr>
          <a:xfrm>
            <a:off x="514184" y="2637100"/>
            <a:ext cx="10656326" cy="2312901"/>
            <a:chOff x="514184" y="2389965"/>
            <a:chExt cx="10656326" cy="2312901"/>
          </a:xfrm>
        </p:grpSpPr>
        <p:sp>
          <p:nvSpPr>
            <p:cNvPr id="125" name="Google Shape;125;p4"/>
            <p:cNvSpPr/>
            <p:nvPr/>
          </p:nvSpPr>
          <p:spPr>
            <a:xfrm>
              <a:off x="514184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36D1C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>
                  <a:solidFill>
                    <a:schemeClr val="lt1"/>
                  </a:solidFill>
                </a:rPr>
                <a:t>Gracias, Edu, por tu tiempo y compromiso.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3269741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36D1C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>
                  <a:solidFill>
                    <a:schemeClr val="lt1"/>
                  </a:solidFill>
                </a:rPr>
                <a:t>Gracias, Jenny, por el gran apoyo que das al equipo.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6021520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36D1C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>
                  <a:solidFill>
                    <a:schemeClr val="lt1"/>
                  </a:solidFill>
                </a:rPr>
                <a:t>Gracias, Matías, por tu ayuda al equipo.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8773299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36D1C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514184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36D1C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269741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36D1C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6021520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36D1C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8773299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36D1C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3" name="Google Shape;133;p4"/>
          <p:cNvCxnSpPr/>
          <p:nvPr/>
        </p:nvCxnSpPr>
        <p:spPr>
          <a:xfrm>
            <a:off x="514184" y="1050324"/>
            <a:ext cx="1623535" cy="0"/>
          </a:xfrm>
          <a:prstGeom prst="straightConnector1">
            <a:avLst/>
          </a:prstGeom>
          <a:noFill/>
          <a:ln cap="flat" cmpd="sng" w="107950">
            <a:solidFill>
              <a:srgbClr val="36D1C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/>
        </p:nvSpPr>
        <p:spPr>
          <a:xfrm>
            <a:off x="767837" y="747066"/>
            <a:ext cx="8347075" cy="365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cosas funcionaron bien en este ciclo de trabajo?</a:t>
            </a:r>
            <a:endParaRPr b="1" i="0" sz="2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767837" y="1251160"/>
            <a:ext cx="10226976" cy="572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Estas son las cosas que cómo equipo tenemos maduras y que tenemos que continuar haciendo para el éxito del ciclo de trabajo</a:t>
            </a:r>
            <a:endParaRPr b="0" i="0" sz="16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140" name="Google Shape;140;p6"/>
          <p:cNvGrpSpPr/>
          <p:nvPr/>
        </p:nvGrpSpPr>
        <p:grpSpPr>
          <a:xfrm>
            <a:off x="767837" y="2365251"/>
            <a:ext cx="10656326" cy="2312901"/>
            <a:chOff x="514184" y="2389965"/>
            <a:chExt cx="10656326" cy="2312901"/>
          </a:xfrm>
        </p:grpSpPr>
        <p:sp>
          <p:nvSpPr>
            <p:cNvPr id="141" name="Google Shape;141;p6"/>
            <p:cNvSpPr/>
            <p:nvPr/>
          </p:nvSpPr>
          <p:spPr>
            <a:xfrm>
              <a:off x="514184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s-ES" sz="1800">
                  <a:solidFill>
                    <a:schemeClr val="lt1"/>
                  </a:solidFill>
                </a:rPr>
                <a:t>La comunicación</a:t>
              </a:r>
              <a:endParaRPr sz="1800">
                <a:solidFill>
                  <a:schemeClr val="lt1"/>
                </a:solidFill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3269741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s-ES" sz="1800">
                  <a:solidFill>
                    <a:schemeClr val="lt1"/>
                  </a:solidFill>
                </a:rPr>
                <a:t>La organización</a:t>
              </a:r>
              <a:endParaRPr sz="1800">
                <a:solidFill>
                  <a:schemeClr val="lt1"/>
                </a:solidFill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6021520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s-ES" sz="1800">
                  <a:solidFill>
                    <a:schemeClr val="lt1"/>
                  </a:solidFill>
                </a:rPr>
                <a:t>El compromiso</a:t>
              </a:r>
              <a:endParaRPr sz="1800">
                <a:solidFill>
                  <a:schemeClr val="lt1"/>
                </a:solidFill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8773299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s-ES" sz="1800">
                  <a:solidFill>
                    <a:schemeClr val="lt1"/>
                  </a:solidFill>
                </a:rPr>
                <a:t>El trabajo en equipo</a:t>
              </a:r>
              <a:endParaRPr sz="1800">
                <a:solidFill>
                  <a:schemeClr val="lt1"/>
                </a:solidFill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514184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>
                  <a:solidFill>
                    <a:schemeClr val="lt1"/>
                  </a:solidFill>
                </a:rPr>
                <a:t>El aprendizaje en conjunto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3269741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6021520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8773299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24163" y="5931243"/>
            <a:ext cx="595217" cy="647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7480" y="5799817"/>
            <a:ext cx="863600" cy="939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7"/>
          <p:cNvGrpSpPr/>
          <p:nvPr/>
        </p:nvGrpSpPr>
        <p:grpSpPr>
          <a:xfrm>
            <a:off x="767837" y="2365251"/>
            <a:ext cx="10656326" cy="2312901"/>
            <a:chOff x="514184" y="2389965"/>
            <a:chExt cx="10656326" cy="2312901"/>
          </a:xfrm>
        </p:grpSpPr>
        <p:sp>
          <p:nvSpPr>
            <p:cNvPr id="156" name="Google Shape;156;p7"/>
            <p:cNvSpPr/>
            <p:nvPr/>
          </p:nvSpPr>
          <p:spPr>
            <a:xfrm>
              <a:off x="514184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>
                  <a:solidFill>
                    <a:schemeClr val="lt1"/>
                  </a:solidFill>
                </a:rPr>
                <a:t>Falta de de </a:t>
              </a:r>
              <a:r>
                <a:rPr lang="es-ES" sz="1800">
                  <a:solidFill>
                    <a:schemeClr val="lt1"/>
                  </a:solidFill>
                </a:rPr>
                <a:t>organización</a:t>
              </a:r>
              <a:r>
                <a:rPr lang="es-ES" sz="1800">
                  <a:solidFill>
                    <a:schemeClr val="lt1"/>
                  </a:solidFill>
                </a:rPr>
                <a:t> en algunas tareas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3269741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6021520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8773299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514184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3269741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6021520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8773299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7"/>
          <p:cNvSpPr txBox="1"/>
          <p:nvPr/>
        </p:nvSpPr>
        <p:spPr>
          <a:xfrm>
            <a:off x="767837" y="747066"/>
            <a:ext cx="8347075" cy="365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cosas NO funcionaron bien este ciclo de trabajo?</a:t>
            </a:r>
            <a:endParaRPr b="1" i="0" sz="2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767837" y="1251160"/>
            <a:ext cx="10226976" cy="572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Estas son las cosas que cómo equipo tenemos que dejar de hacer si es que queremos mejorar durante el próximo sprint</a:t>
            </a:r>
            <a:endParaRPr b="0" i="0" sz="16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767837" y="5824504"/>
            <a:ext cx="9797190" cy="572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200"/>
              <a:buFont typeface="Arial"/>
              <a:buNone/>
            </a:pPr>
            <a:r>
              <a:rPr b="0" i="1" lang="es-ES" sz="1200" u="none" cap="none" strike="noStrike">
                <a:solidFill>
                  <a:srgbClr val="3A3A3A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El facilitador puede utilizar la técnica del ping pong para preguntar a cada miembro del equipo qué opina sobre algún post it en particular. La idea es que todos vayan opinando</a:t>
            </a:r>
            <a:endParaRPr b="0" i="1" sz="1200" u="none" cap="none" strike="noStrike">
              <a:solidFill>
                <a:srgbClr val="3A3A3A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/>
        </p:nvSpPr>
        <p:spPr>
          <a:xfrm>
            <a:off x="449262" y="496571"/>
            <a:ext cx="10479995" cy="523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cosas podemos hacer para mejorar durante el próximo sprint?</a:t>
            </a:r>
            <a:endParaRPr b="1" i="0" sz="2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449261" y="995611"/>
            <a:ext cx="10479995" cy="33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Estas son las cosas que cómo equipo podemos hacer para mejorar nuestra eficiencia. Corresponde a los planes de acción que estén en nuestras manos ejecutar</a:t>
            </a:r>
            <a:endParaRPr b="0" i="0" sz="16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449261" y="6314485"/>
            <a:ext cx="8290864" cy="33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722"/>
              <a:buFont typeface="Helvetica Neue Light"/>
              <a:buNone/>
            </a:pPr>
            <a:r>
              <a:rPr b="0" i="1" lang="es-ES" sz="1400" u="none" cap="none" strike="noStrike">
                <a:solidFill>
                  <a:srgbClr val="3A3A3A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Los accionables deben enfocarse a cosas que el equipo puede ejecutar dentro de un sprint de trabajo</a:t>
            </a:r>
            <a:endParaRPr b="0" i="1" sz="1400" u="none" cap="none" strike="noStrike">
              <a:solidFill>
                <a:srgbClr val="3A3A3A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6298748" y="4596205"/>
            <a:ext cx="1023333" cy="381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230"/>
              <a:buFont typeface="Helvetica Neue Light"/>
              <a:buNone/>
            </a:pPr>
            <a:r>
              <a:rPr b="0" i="1" lang="es-ES" sz="1000" u="none" cap="none" strike="noStrike">
                <a:solidFill>
                  <a:srgbClr val="3A3A3A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Agrupar por tema</a:t>
            </a:r>
            <a:endParaRPr b="0" i="1" sz="1000" u="none" cap="none" strike="noStrike">
              <a:solidFill>
                <a:srgbClr val="3A3A3A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07607" y="2091940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 sz="1800">
                <a:solidFill>
                  <a:schemeClr val="lt1"/>
                </a:solidFill>
              </a:rPr>
              <a:t>Distribuir de mejor manera las tareas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807607" y="3278189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>
                <a:solidFill>
                  <a:schemeClr val="lt1"/>
                </a:solidFill>
              </a:rPr>
              <a:t>Organizar y definir tareas puntuales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807607" y="4464437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390169" y="2079583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 sz="1800">
                <a:solidFill>
                  <a:schemeClr val="lt1"/>
                </a:solidFill>
              </a:rPr>
              <a:t>Pactar días para las ceremonias 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390169" y="3265832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390169" y="4452080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245640" y="3278189"/>
            <a:ext cx="1305697" cy="79049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0D0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8987184" y="2027406"/>
            <a:ext cx="2333504" cy="1106312"/>
          </a:xfrm>
          <a:prstGeom prst="snip1Rect">
            <a:avLst>
              <a:gd fmla="val 16667" name="adj"/>
            </a:avLst>
          </a:prstGeom>
          <a:solidFill>
            <a:srgbClr val="36D1CC"/>
          </a:solidFill>
          <a:ln cap="flat" cmpd="sng" w="381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None/>
            </a:pPr>
            <a:r>
              <a:rPr lang="es-ES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Dejar agendadas las reuniones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None/>
            </a:pPr>
            <a:r>
              <a:t/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933535" y="2607459"/>
            <a:ext cx="1164936" cy="110631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36D1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1000"/>
              <a:buFont typeface="Helvetica Neue"/>
              <a:buNone/>
            </a:pPr>
            <a:r>
              <a:rPr b="0" i="0" lang="es-ES" sz="10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Tema 1</a:t>
            </a:r>
            <a:endParaRPr b="0" i="0" sz="10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9086038" y="3880919"/>
            <a:ext cx="2333504" cy="1106312"/>
          </a:xfrm>
          <a:prstGeom prst="snip1Rect">
            <a:avLst>
              <a:gd fmla="val 16667" name="adj"/>
            </a:avLst>
          </a:prstGeom>
          <a:solidFill>
            <a:srgbClr val="36D1CC"/>
          </a:solidFill>
          <a:ln cap="flat" cmpd="sng" w="381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None/>
            </a:pPr>
            <a:r>
              <a:rPr lang="es-ES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ven en conjunto las tareas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None/>
            </a:pPr>
            <a:r>
              <a:t/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8032389" y="4460972"/>
            <a:ext cx="1164936" cy="110631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36D1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1000"/>
              <a:buFont typeface="Helvetica Neue"/>
              <a:buNone/>
            </a:pPr>
            <a:r>
              <a:rPr b="0" i="0" lang="es-ES" sz="10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Tema 2</a:t>
            </a:r>
            <a:endParaRPr b="0" i="0" sz="10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0" y="3991232"/>
            <a:ext cx="12192000" cy="2866768"/>
          </a:xfrm>
          <a:prstGeom prst="rect">
            <a:avLst/>
          </a:prstGeom>
          <a:solidFill>
            <a:srgbClr val="36D1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s-ES" sz="80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¡Gracias!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9658" y="706738"/>
            <a:ext cx="5992684" cy="3393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116" y="216415"/>
            <a:ext cx="1164625" cy="1093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2025-08-25T14:09:55Z</dcterms:created>
  <dc:creator>Jenny Vargas</dc:creator>
</cp:coreProperties>
</file>