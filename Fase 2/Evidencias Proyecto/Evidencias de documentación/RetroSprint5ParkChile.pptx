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</p:sldIdLst>
  <p:sldSz cy="6858000" cx="12192000"/>
  <p:notesSz cx="6858000" cy="9144000"/>
  <p:embeddedFontLst>
    <p:embeddedFont>
      <p:font typeface="Play"/>
      <p:regular r:id="rId12"/>
      <p:bold r:id="rId13"/>
    </p:embeddedFont>
    <p:embeddedFont>
      <p:font typeface="Helvetica Neue"/>
      <p:regular r:id="rId14"/>
      <p:bold r:id="rId15"/>
      <p:italic r:id="rId16"/>
      <p:boldItalic r:id="rId17"/>
    </p:embeddedFont>
    <p:embeddedFont>
      <p:font typeface="Helvetica Neue Light"/>
      <p:regular r:id="rId18"/>
      <p:bold r:id="rId19"/>
      <p:italic r:id="rId20"/>
      <p:boldItalic r:id="rId21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22" roundtripDataSignature="AMtx7mhDcu6MuL2Ef9WHHDlIjxdXVza2l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HelveticaNeueLight-italic.fntdata"/><Relationship Id="rId11" Type="http://schemas.openxmlformats.org/officeDocument/2006/relationships/slide" Target="slides/slide7.xml"/><Relationship Id="rId22" Type="http://customschemas.google.com/relationships/presentationmetadata" Target="metadata"/><Relationship Id="rId10" Type="http://schemas.openxmlformats.org/officeDocument/2006/relationships/slide" Target="slides/slide6.xml"/><Relationship Id="rId21" Type="http://schemas.openxmlformats.org/officeDocument/2006/relationships/font" Target="fonts/HelveticaNeueLight-boldItalic.fntdata"/><Relationship Id="rId13" Type="http://schemas.openxmlformats.org/officeDocument/2006/relationships/font" Target="fonts/Play-bold.fntdata"/><Relationship Id="rId12" Type="http://schemas.openxmlformats.org/officeDocument/2006/relationships/font" Target="fonts/Play-regular.fntdata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15" Type="http://schemas.openxmlformats.org/officeDocument/2006/relationships/font" Target="fonts/HelveticaNeue-bold.fntdata"/><Relationship Id="rId14" Type="http://schemas.openxmlformats.org/officeDocument/2006/relationships/font" Target="fonts/HelveticaNeue-regular.fntdata"/><Relationship Id="rId17" Type="http://schemas.openxmlformats.org/officeDocument/2006/relationships/font" Target="fonts/HelveticaNeue-boldItalic.fntdata"/><Relationship Id="rId16" Type="http://schemas.openxmlformats.org/officeDocument/2006/relationships/font" Target="fonts/HelveticaNeue-italic.fntdata"/><Relationship Id="rId5" Type="http://schemas.openxmlformats.org/officeDocument/2006/relationships/slide" Target="slides/slide1.xml"/><Relationship Id="rId19" Type="http://schemas.openxmlformats.org/officeDocument/2006/relationships/font" Target="fonts/HelveticaNeueLight-bold.fntdata"/><Relationship Id="rId6" Type="http://schemas.openxmlformats.org/officeDocument/2006/relationships/slide" Target="slides/slide2.xml"/><Relationship Id="rId18" Type="http://schemas.openxmlformats.org/officeDocument/2006/relationships/font" Target="fonts/HelveticaNeueLight-regular.fntdata"/><Relationship Id="rId7" Type="http://schemas.openxmlformats.org/officeDocument/2006/relationships/slide" Target="slides/slide3.xml"/><Relationship Id="rId8" Type="http://schemas.openxmlformats.org/officeDocument/2006/relationships/slide" Target="slides/slide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90" name="Google Shape;90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06" name="Google Shape;106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18" name="Google Shape;118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34" name="Google Shape;134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51" name="Google Shape;151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70" name="Google Shape;170;p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iapositiva de título" type="title">
  <p:cSld name="TITLE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1"/>
          <p:cNvSpPr txBox="1"/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Play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11"/>
          <p:cNvSpPr txBox="1"/>
          <p:nvPr>
            <p:ph idx="1" type="subTitle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14" name="Google Shape;14;p11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" name="Google Shape;15;p11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" name="Google Shape;16;p11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y objetos" type="obj">
  <p:cSld name="OBJECT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12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12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0" name="Google Shape;20;p12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12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" name="Google Shape;22;p12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Encabezado de sección" type="secHead">
  <p:cSld name="SECTION_HEADER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13"/>
          <p:cNvSpPr txBox="1"/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Play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13"/>
          <p:cNvSpPr txBox="1"/>
          <p:nvPr>
            <p:ph idx="1" type="body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757575"/>
              </a:buClr>
              <a:buSzPts val="2400"/>
              <a:buNone/>
              <a:defRPr sz="2400">
                <a:solidFill>
                  <a:srgbClr val="757575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2000"/>
              <a:buNone/>
              <a:defRPr sz="2000">
                <a:solidFill>
                  <a:srgbClr val="757575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800"/>
              <a:buNone/>
              <a:defRPr sz="1800">
                <a:solidFill>
                  <a:srgbClr val="757575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9pPr>
          </a:lstStyle>
          <a:p/>
        </p:txBody>
      </p:sp>
      <p:sp>
        <p:nvSpPr>
          <p:cNvPr id="26" name="Google Shape;26;p13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" name="Google Shape;27;p13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" name="Google Shape;28;p13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os objetos" type="twoObj">
  <p:cSld name="TWO_OBJECTS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14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14"/>
          <p:cNvSpPr txBox="1"/>
          <p:nvPr>
            <p:ph idx="1" type="body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2" name="Google Shape;32;p14"/>
          <p:cNvSpPr txBox="1"/>
          <p:nvPr>
            <p:ph idx="2" type="body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3" name="Google Shape;33;p14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" name="Google Shape;34;p14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14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ación" type="twoTxTwoObj">
  <p:cSld name="TWO_OBJECTS_WITH_TEXT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15"/>
          <p:cNvSpPr txBox="1"/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15"/>
          <p:cNvSpPr txBox="1"/>
          <p:nvPr>
            <p:ph idx="1" type="body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39" name="Google Shape;39;p15"/>
          <p:cNvSpPr txBox="1"/>
          <p:nvPr>
            <p:ph idx="2" type="body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0" name="Google Shape;40;p15"/>
          <p:cNvSpPr txBox="1"/>
          <p:nvPr>
            <p:ph idx="3" type="body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1" name="Google Shape;41;p15"/>
          <p:cNvSpPr txBox="1"/>
          <p:nvPr>
            <p:ph idx="4" type="body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2" name="Google Shape;42;p15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15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4" name="Google Shape;44;p15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olo el título" type="titleOnly">
  <p:cSld name="TITLE_ONLY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16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16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16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p16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En blanco" type="blank">
  <p:cSld name="BLANK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7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17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17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ido con título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8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lay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18"/>
          <p:cNvSpPr txBox="1"/>
          <p:nvPr>
            <p:ph idx="1" type="body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indent="-3810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indent="-355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indent="-355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18"/>
          <p:cNvSpPr txBox="1"/>
          <p:nvPr>
            <p:ph idx="2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58" name="Google Shape;58;p18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18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18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n con título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9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lay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9"/>
          <p:cNvSpPr/>
          <p:nvPr>
            <p:ph idx="2" type="pic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9"/>
          <p:cNvSpPr txBox="1"/>
          <p:nvPr>
            <p:ph idx="1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65" name="Google Shape;65;p19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9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9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y texto vertical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20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20"/>
          <p:cNvSpPr txBox="1"/>
          <p:nvPr>
            <p:ph idx="1" type="body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20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20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20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vertical y texto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21"/>
          <p:cNvSpPr txBox="1"/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21"/>
          <p:cNvSpPr txBox="1"/>
          <p:nvPr>
            <p:ph idx="1" type="body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21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21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21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0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Play"/>
              <a:buNone/>
              <a:defRPr b="0" i="0" sz="44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p10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p10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9" name="Google Shape;9;p10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0" name="Google Shape;10;p10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png"/><Relationship Id="rId4" Type="http://schemas.openxmlformats.org/officeDocument/2006/relationships/image" Target="../media/image5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6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5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5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3.png"/><Relationship Id="rId4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"/>
          <p:cNvSpPr txBox="1"/>
          <p:nvPr>
            <p:ph type="ctrTitle"/>
          </p:nvPr>
        </p:nvSpPr>
        <p:spPr>
          <a:xfrm>
            <a:off x="6663558" y="2511972"/>
            <a:ext cx="3941379" cy="99799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F5F5F"/>
              </a:buClr>
              <a:buSzPts val="4800"/>
              <a:buFont typeface="Play"/>
              <a:buNone/>
            </a:pPr>
            <a:r>
              <a:rPr b="1" lang="es-ES" sz="4300">
                <a:solidFill>
                  <a:srgbClr val="5F5F5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Retrospectiva</a:t>
            </a:r>
            <a:br>
              <a:rPr b="1" lang="es-ES" sz="3600">
                <a:solidFill>
                  <a:srgbClr val="5F5F5F"/>
                </a:solidFill>
                <a:latin typeface="Helvetica Neue"/>
                <a:ea typeface="Helvetica Neue"/>
                <a:cs typeface="Helvetica Neue"/>
                <a:sym typeface="Helvetica Neue"/>
              </a:rPr>
            </a:br>
            <a:r>
              <a:rPr b="1" lang="es-ES" sz="1400">
                <a:solidFill>
                  <a:srgbClr val="5F5F5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Sprint N°5 – del 27/10/2025 al 07/11/2025</a:t>
            </a:r>
            <a:endParaRPr b="1" sz="1600"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85" name="Google Shape;85;p1"/>
          <p:cNvSpPr txBox="1"/>
          <p:nvPr>
            <p:ph idx="1" type="subTitle"/>
          </p:nvPr>
        </p:nvSpPr>
        <p:spPr>
          <a:xfrm>
            <a:off x="6663558" y="3602038"/>
            <a:ext cx="3941379" cy="109608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just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F5F5F"/>
              </a:buClr>
              <a:buSzPts val="1200"/>
              <a:buNone/>
            </a:pPr>
            <a:r>
              <a:rPr lang="es-ES" sz="1200">
                <a:solidFill>
                  <a:srgbClr val="5F5F5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rPr>
              <a:t>La retrospectiva es un espacio en el que una persona, un equipo de trabajo u organización se reúnen para reflexionar sobre acontecimientos o hechos pasados que han impactado su devenir con el objetivo de acordar acciones que permitan mejorar de manera continua.</a:t>
            </a:r>
            <a:endParaRPr/>
          </a:p>
          <a:p>
            <a:pPr indent="0" lvl="0" marL="0" rt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t/>
            </a:r>
            <a:endParaRPr/>
          </a:p>
        </p:txBody>
      </p:sp>
      <p:pic>
        <p:nvPicPr>
          <p:cNvPr id="86" name="Google Shape;86;p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55722" y="2127270"/>
            <a:ext cx="4863164" cy="2797114"/>
          </a:xfrm>
          <a:prstGeom prst="rect">
            <a:avLst/>
          </a:prstGeom>
          <a:noFill/>
          <a:ln>
            <a:noFill/>
          </a:ln>
        </p:spPr>
      </p:pic>
      <p:pic>
        <p:nvPicPr>
          <p:cNvPr id="87" name="Google Shape;87;p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1076459" y="351824"/>
            <a:ext cx="863600" cy="939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2"/>
          <p:cNvSpPr/>
          <p:nvPr/>
        </p:nvSpPr>
        <p:spPr>
          <a:xfrm>
            <a:off x="0" y="0"/>
            <a:ext cx="6096000" cy="6858000"/>
          </a:xfrm>
          <a:prstGeom prst="rect">
            <a:avLst/>
          </a:prstGeom>
          <a:solidFill>
            <a:srgbClr val="36D1C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3" name="Google Shape;93;p2"/>
          <p:cNvSpPr txBox="1"/>
          <p:nvPr>
            <p:ph type="title"/>
          </p:nvPr>
        </p:nvSpPr>
        <p:spPr>
          <a:xfrm>
            <a:off x="-406228" y="4917397"/>
            <a:ext cx="7053569" cy="224113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100000"/>
              <a:buFont typeface="Helvetica Neue"/>
              <a:buNone/>
            </a:pPr>
            <a:r>
              <a:rPr b="1" lang="es-ES" sz="16100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Agenda</a:t>
            </a:r>
            <a:endParaRPr b="1" sz="6000">
              <a:solidFill>
                <a:schemeClr val="lt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94" name="Google Shape;94;p2"/>
          <p:cNvSpPr txBox="1"/>
          <p:nvPr/>
        </p:nvSpPr>
        <p:spPr>
          <a:xfrm>
            <a:off x="6626320" y="1543721"/>
            <a:ext cx="999566" cy="79714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6D1CC"/>
              </a:buClr>
              <a:buSzPts val="5400"/>
              <a:buFont typeface="Arial"/>
              <a:buNone/>
            </a:pPr>
            <a:r>
              <a:rPr b="1" i="0" lang="es-ES" sz="5400" u="none" cap="none" strike="noStrike">
                <a:solidFill>
                  <a:srgbClr val="36D1CC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01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5" name="Google Shape;95;p2"/>
          <p:cNvSpPr txBox="1"/>
          <p:nvPr/>
        </p:nvSpPr>
        <p:spPr>
          <a:xfrm>
            <a:off x="7625886" y="3940260"/>
            <a:ext cx="4545093" cy="4936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A3A3A"/>
              </a:buClr>
              <a:buSzPts val="1600"/>
              <a:buFont typeface="Arial"/>
              <a:buNone/>
            </a:pPr>
            <a:r>
              <a:rPr b="0" i="0" lang="es-ES" sz="1600" u="none" cap="none" strike="noStrike">
                <a:solidFill>
                  <a:srgbClr val="3A3A3A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Revisión ciclo del sprint (aspectos positivos y negativos de la iteración)</a:t>
            </a:r>
            <a:endParaRPr b="0" i="0" sz="1600" u="none" cap="none" strike="noStrike">
              <a:solidFill>
                <a:srgbClr val="3A3A3A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96" name="Google Shape;96;p2"/>
          <p:cNvSpPr txBox="1"/>
          <p:nvPr/>
        </p:nvSpPr>
        <p:spPr>
          <a:xfrm>
            <a:off x="7636397" y="5144906"/>
            <a:ext cx="4545093" cy="46895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A3A3A"/>
              </a:buClr>
              <a:buSzPts val="1600"/>
              <a:buFont typeface="Arial"/>
              <a:buNone/>
            </a:pPr>
            <a:r>
              <a:rPr b="0" i="0" lang="es-ES" sz="1600" u="none" cap="none" strike="noStrike">
                <a:solidFill>
                  <a:srgbClr val="3A3A3A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Accionables y champions</a:t>
            </a:r>
            <a:endParaRPr b="0" i="0" sz="1600" u="none" cap="none" strike="noStrike">
              <a:solidFill>
                <a:srgbClr val="3A3A3A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97" name="Google Shape;97;p2"/>
          <p:cNvSpPr txBox="1"/>
          <p:nvPr/>
        </p:nvSpPr>
        <p:spPr>
          <a:xfrm>
            <a:off x="7646907" y="2893379"/>
            <a:ext cx="4545093" cy="28347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A3A3A"/>
              </a:buClr>
              <a:buSzPts val="1600"/>
              <a:buFont typeface="Arial"/>
              <a:buNone/>
            </a:pPr>
            <a:r>
              <a:rPr b="0" i="0" lang="es-ES" sz="1600" u="none" cap="none" strike="noStrike">
                <a:solidFill>
                  <a:srgbClr val="3A3A3A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Compromisos retro anterior	</a:t>
            </a:r>
            <a:endParaRPr b="0" i="0" sz="1600" u="none" cap="none" strike="noStrike">
              <a:solidFill>
                <a:srgbClr val="3A3A3A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98" name="Google Shape;98;p2"/>
          <p:cNvSpPr txBox="1"/>
          <p:nvPr/>
        </p:nvSpPr>
        <p:spPr>
          <a:xfrm>
            <a:off x="7625885" y="1752151"/>
            <a:ext cx="4545093" cy="4469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A3A3A"/>
              </a:buClr>
              <a:buSzPts val="1600"/>
              <a:buFont typeface="Arial"/>
              <a:buNone/>
            </a:pPr>
            <a:r>
              <a:rPr b="0" i="0" lang="es-ES" sz="1600" u="none" cap="none" strike="noStrike">
                <a:solidFill>
                  <a:srgbClr val="3A3A3A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Check in equipo - agradecimientos</a:t>
            </a:r>
            <a:endParaRPr b="0" i="0" sz="1600" u="none" cap="none" strike="noStrike">
              <a:solidFill>
                <a:srgbClr val="3A3A3A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99" name="Google Shape;99;p2"/>
          <p:cNvSpPr txBox="1"/>
          <p:nvPr/>
        </p:nvSpPr>
        <p:spPr>
          <a:xfrm>
            <a:off x="6636831" y="2668328"/>
            <a:ext cx="999566" cy="79714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6D1CC"/>
              </a:buClr>
              <a:buSzPts val="5400"/>
              <a:buFont typeface="Arial"/>
              <a:buNone/>
            </a:pPr>
            <a:r>
              <a:rPr b="1" i="0" lang="es-ES" sz="5400" u="none" cap="none" strike="noStrike">
                <a:solidFill>
                  <a:srgbClr val="36D1CC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02</a:t>
            </a:r>
            <a:endParaRPr b="1" i="0" sz="5400" u="none" cap="none" strike="noStrike">
              <a:solidFill>
                <a:srgbClr val="36D1CC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00" name="Google Shape;100;p2"/>
          <p:cNvSpPr txBox="1"/>
          <p:nvPr/>
        </p:nvSpPr>
        <p:spPr>
          <a:xfrm>
            <a:off x="6647341" y="3792935"/>
            <a:ext cx="999566" cy="79714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6D1CC"/>
              </a:buClr>
              <a:buSzPts val="5400"/>
              <a:buFont typeface="Arial"/>
              <a:buNone/>
            </a:pPr>
            <a:r>
              <a:rPr b="1" i="0" lang="es-ES" sz="5400" u="none" cap="none" strike="noStrike">
                <a:solidFill>
                  <a:srgbClr val="36D1CC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03</a:t>
            </a:r>
            <a:endParaRPr b="1" i="0" sz="5400" u="none" cap="none" strike="noStrike">
              <a:solidFill>
                <a:srgbClr val="36D1CC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01" name="Google Shape;101;p2"/>
          <p:cNvSpPr txBox="1"/>
          <p:nvPr/>
        </p:nvSpPr>
        <p:spPr>
          <a:xfrm>
            <a:off x="6647341" y="4915451"/>
            <a:ext cx="999566" cy="79714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6D1CC"/>
              </a:buClr>
              <a:buSzPts val="5400"/>
              <a:buFont typeface="Arial"/>
              <a:buNone/>
            </a:pPr>
            <a:r>
              <a:rPr b="1" i="0" lang="es-ES" sz="5400" u="none" cap="none" strike="noStrike">
                <a:solidFill>
                  <a:srgbClr val="36D1CC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04</a:t>
            </a:r>
            <a:endParaRPr b="1" i="0" sz="5400" u="none" cap="none" strike="noStrike">
              <a:solidFill>
                <a:srgbClr val="36D1CC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02" name="Google Shape;102;p2"/>
          <p:cNvSpPr/>
          <p:nvPr/>
        </p:nvSpPr>
        <p:spPr>
          <a:xfrm rot="7574397">
            <a:off x="-1604124" y="761401"/>
            <a:ext cx="3084156" cy="1981502"/>
          </a:xfrm>
          <a:prstGeom prst="roundRect">
            <a:avLst>
              <a:gd fmla="val 16667" name="adj"/>
            </a:avLst>
          </a:prstGeom>
          <a:noFill/>
          <a:ln cap="flat" cmpd="sng" w="19050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3" name="Google Shape;103;p2"/>
          <p:cNvSpPr/>
          <p:nvPr/>
        </p:nvSpPr>
        <p:spPr>
          <a:xfrm rot="6224250">
            <a:off x="-648463" y="20984"/>
            <a:ext cx="3084156" cy="3720130"/>
          </a:xfrm>
          <a:prstGeom prst="roundRect">
            <a:avLst>
              <a:gd fmla="val 16667" name="adj"/>
            </a:avLst>
          </a:prstGeom>
          <a:noFill/>
          <a:ln cap="flat" cmpd="sng" w="9525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3"/>
          <p:cNvSpPr txBox="1"/>
          <p:nvPr/>
        </p:nvSpPr>
        <p:spPr>
          <a:xfrm>
            <a:off x="6759146" y="1940010"/>
            <a:ext cx="4797510" cy="3949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i="0" lang="es-ES" sz="1800" u="none" cap="none" strike="noStrike">
                <a:solidFill>
                  <a:srgbClr val="36D1CC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Utiliza un post it para dejar tu comentario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9" name="Google Shape;109;p3"/>
          <p:cNvSpPr/>
          <p:nvPr/>
        </p:nvSpPr>
        <p:spPr>
          <a:xfrm>
            <a:off x="799921" y="3854500"/>
            <a:ext cx="1783500" cy="1686900"/>
          </a:xfrm>
          <a:prstGeom prst="foldedCorner">
            <a:avLst>
              <a:gd fmla="val 16667" name="adj"/>
            </a:avLst>
          </a:prstGeom>
          <a:solidFill>
            <a:srgbClr val="36D1CC"/>
          </a:solidFill>
          <a:ln cap="flat" cmpd="sng" w="19050">
            <a:solidFill>
              <a:srgbClr val="D0D0D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0" name="Google Shape;110;p3"/>
          <p:cNvSpPr/>
          <p:nvPr/>
        </p:nvSpPr>
        <p:spPr>
          <a:xfrm>
            <a:off x="0" y="0"/>
            <a:ext cx="6277200" cy="6858000"/>
          </a:xfrm>
          <a:prstGeom prst="rect">
            <a:avLst/>
          </a:prstGeom>
          <a:solidFill>
            <a:srgbClr val="36D1C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11" name="Google Shape;111;p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82897" y="1940010"/>
            <a:ext cx="4374413" cy="4386649"/>
          </a:xfrm>
          <a:prstGeom prst="rect">
            <a:avLst/>
          </a:prstGeom>
          <a:noFill/>
          <a:ln>
            <a:noFill/>
          </a:ln>
        </p:spPr>
      </p:pic>
      <p:sp>
        <p:nvSpPr>
          <p:cNvPr id="112" name="Google Shape;112;p3"/>
          <p:cNvSpPr txBox="1"/>
          <p:nvPr>
            <p:ph type="title"/>
          </p:nvPr>
        </p:nvSpPr>
        <p:spPr>
          <a:xfrm>
            <a:off x="882897" y="531341"/>
            <a:ext cx="4374413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lay"/>
              <a:buNone/>
            </a:pPr>
            <a:r>
              <a:rPr b="1" lang="es-ES" sz="2000">
                <a:solidFill>
                  <a:schemeClr val="lt1"/>
                </a:solidFill>
              </a:rPr>
              <a:t>Chek in – En la escala del gato ¿cómo te has sentido durante la mayor parte de este ciclo de trabajo?</a:t>
            </a:r>
            <a:endParaRPr sz="2000">
              <a:solidFill>
                <a:schemeClr val="lt1"/>
              </a:solidFill>
            </a:endParaRPr>
          </a:p>
        </p:txBody>
      </p:sp>
      <p:sp>
        <p:nvSpPr>
          <p:cNvPr id="113" name="Google Shape;113;p3"/>
          <p:cNvSpPr/>
          <p:nvPr/>
        </p:nvSpPr>
        <p:spPr>
          <a:xfrm>
            <a:off x="2170925" y="4167325"/>
            <a:ext cx="1074600" cy="1256400"/>
          </a:xfrm>
          <a:prstGeom prst="foldedCorner">
            <a:avLst>
              <a:gd fmla="val 16667" name="adj"/>
            </a:avLst>
          </a:prstGeom>
          <a:solidFill>
            <a:srgbClr val="36D1CC"/>
          </a:solidFill>
          <a:ln cap="flat" cmpd="sng" w="19050">
            <a:solidFill>
              <a:srgbClr val="D0D0D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s-ES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Matias Villegas</a:t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4" name="Google Shape;114;p3"/>
          <p:cNvSpPr/>
          <p:nvPr/>
        </p:nvSpPr>
        <p:spPr>
          <a:xfrm>
            <a:off x="2677750" y="5888350"/>
            <a:ext cx="1074600" cy="1256400"/>
          </a:xfrm>
          <a:prstGeom prst="foldedCorner">
            <a:avLst>
              <a:gd fmla="val 16667" name="adj"/>
            </a:avLst>
          </a:prstGeom>
          <a:solidFill>
            <a:srgbClr val="36D1CC"/>
          </a:solidFill>
          <a:ln cap="flat" cmpd="sng" w="19050">
            <a:solidFill>
              <a:srgbClr val="D0D0D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s-ES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Eduardo Zamora</a:t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5" name="Google Shape;115;p3"/>
          <p:cNvSpPr/>
          <p:nvPr/>
        </p:nvSpPr>
        <p:spPr>
          <a:xfrm>
            <a:off x="303475" y="2841625"/>
            <a:ext cx="1074600" cy="1325700"/>
          </a:xfrm>
          <a:prstGeom prst="foldedCorner">
            <a:avLst>
              <a:gd fmla="val 16667" name="adj"/>
            </a:avLst>
          </a:prstGeom>
          <a:solidFill>
            <a:srgbClr val="36D1CC"/>
          </a:solidFill>
          <a:ln cap="flat" cmpd="sng" w="19050">
            <a:solidFill>
              <a:srgbClr val="D0D0D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s-ES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Jenny Vargas</a:t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6"/>
          <p:cNvSpPr txBox="1"/>
          <p:nvPr/>
        </p:nvSpPr>
        <p:spPr>
          <a:xfrm>
            <a:off x="767837" y="747066"/>
            <a:ext cx="8347075" cy="36509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6D1CC"/>
              </a:buClr>
              <a:buSzPts val="2400"/>
              <a:buFont typeface="Arial"/>
              <a:buNone/>
            </a:pPr>
            <a:r>
              <a:rPr b="1" i="0" lang="es-ES" sz="2400" u="none" cap="none" strike="noStrike">
                <a:solidFill>
                  <a:srgbClr val="36D1CC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¿Qué cosas funcionaron bien en este ciclo de trabajo?</a:t>
            </a:r>
            <a:endParaRPr b="1" i="0" sz="2400" u="none" cap="none" strike="noStrike">
              <a:solidFill>
                <a:srgbClr val="36D1CC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21" name="Google Shape;121;p6"/>
          <p:cNvSpPr txBox="1"/>
          <p:nvPr/>
        </p:nvSpPr>
        <p:spPr>
          <a:xfrm>
            <a:off x="767837" y="1251160"/>
            <a:ext cx="10226976" cy="57285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rPr b="0" i="0" lang="es-ES" sz="1600" u="none" cap="none" strike="noStrike">
                <a:solidFill>
                  <a:schemeClr val="dk1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rPr>
              <a:t>Estas son las cosas que cómo equipo tenemos maduras y que tenemos que continuar haciendo para el éxito del ciclo de trabajo</a:t>
            </a:r>
            <a:endParaRPr b="0" i="0" sz="1600" u="none" cap="none" strike="noStrike">
              <a:solidFill>
                <a:schemeClr val="dk1"/>
              </a:solidFill>
              <a:latin typeface="Helvetica Neue Light"/>
              <a:ea typeface="Helvetica Neue Light"/>
              <a:cs typeface="Helvetica Neue Light"/>
              <a:sym typeface="Helvetica Neue Light"/>
            </a:endParaRPr>
          </a:p>
        </p:txBody>
      </p:sp>
      <p:grpSp>
        <p:nvGrpSpPr>
          <p:cNvPr id="122" name="Google Shape;122;p6"/>
          <p:cNvGrpSpPr/>
          <p:nvPr/>
        </p:nvGrpSpPr>
        <p:grpSpPr>
          <a:xfrm>
            <a:off x="767837" y="2365251"/>
            <a:ext cx="10656326" cy="2312901"/>
            <a:chOff x="514184" y="2389965"/>
            <a:chExt cx="10656326" cy="2312901"/>
          </a:xfrm>
        </p:grpSpPr>
        <p:sp>
          <p:nvSpPr>
            <p:cNvPr id="123" name="Google Shape;123;p6"/>
            <p:cNvSpPr/>
            <p:nvPr/>
          </p:nvSpPr>
          <p:spPr>
            <a:xfrm>
              <a:off x="514184" y="2389965"/>
              <a:ext cx="2397211" cy="941301"/>
            </a:xfrm>
            <a:prstGeom prst="round2DiagRect">
              <a:avLst>
                <a:gd fmla="val 16667" name="adj1"/>
                <a:gd fmla="val 0" name="adj2"/>
              </a:avLst>
            </a:prstGeom>
            <a:solidFill>
              <a:srgbClr val="D8F2CF"/>
            </a:solidFill>
            <a:ln cap="flat" cmpd="sng" w="19050">
              <a:solidFill>
                <a:schemeClr val="lt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rPr lang="es-ES" sz="1100">
                  <a:solidFill>
                    <a:schemeClr val="dk1"/>
                  </a:solidFill>
                </a:rPr>
                <a:t>Se implementó el sistema de favoritos y la mejora del chat de soporte, entregando una mejor experiencia al usuario</a:t>
              </a:r>
              <a:endPara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4" name="Google Shape;124;p6"/>
            <p:cNvSpPr/>
            <p:nvPr/>
          </p:nvSpPr>
          <p:spPr>
            <a:xfrm>
              <a:off x="3269741" y="2389965"/>
              <a:ext cx="2397211" cy="941301"/>
            </a:xfrm>
            <a:prstGeom prst="round2DiagRect">
              <a:avLst>
                <a:gd fmla="val 16667" name="adj1"/>
                <a:gd fmla="val 0" name="adj2"/>
              </a:avLst>
            </a:prstGeom>
            <a:solidFill>
              <a:srgbClr val="D8F2CF"/>
            </a:solidFill>
            <a:ln cap="flat" cmpd="sng" w="19050">
              <a:solidFill>
                <a:schemeClr val="lt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5F5F5F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rPr lang="es-ES" sz="1100">
                  <a:solidFill>
                    <a:schemeClr val="dk1"/>
                  </a:solidFill>
                </a:rPr>
                <a:t>Se logró una colaboración efectiva entre desarrollo y QA, garantizando un cierre de sprint sin errores críticos</a:t>
              </a:r>
              <a:endParaRPr b="0" i="0" sz="17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5" name="Google Shape;125;p6"/>
            <p:cNvSpPr/>
            <p:nvPr/>
          </p:nvSpPr>
          <p:spPr>
            <a:xfrm>
              <a:off x="6021520" y="2389965"/>
              <a:ext cx="2397211" cy="941301"/>
            </a:xfrm>
            <a:prstGeom prst="round2DiagRect">
              <a:avLst>
                <a:gd fmla="val 16667" name="adj1"/>
                <a:gd fmla="val 0" name="adj2"/>
              </a:avLst>
            </a:prstGeom>
            <a:solidFill>
              <a:srgbClr val="D8F2CF"/>
            </a:solidFill>
            <a:ln cap="flat" cmpd="sng" w="19050">
              <a:solidFill>
                <a:schemeClr val="lt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rPr lang="es-ES" sz="1100">
                  <a:solidFill>
                    <a:schemeClr val="dk1"/>
                  </a:solidFill>
                </a:rPr>
                <a:t>El equipo cumplió los objetivos planificados, dejando la aplicación lista para el despliegue a producción</a:t>
              </a:r>
              <a:endParaRPr sz="1100">
                <a:solidFill>
                  <a:schemeClr val="dk1"/>
                </a:solidFill>
              </a:endParaRPr>
            </a:p>
          </p:txBody>
        </p:sp>
        <p:sp>
          <p:nvSpPr>
            <p:cNvPr id="126" name="Google Shape;126;p6"/>
            <p:cNvSpPr/>
            <p:nvPr/>
          </p:nvSpPr>
          <p:spPr>
            <a:xfrm>
              <a:off x="8773299" y="2389965"/>
              <a:ext cx="2397211" cy="941301"/>
            </a:xfrm>
            <a:prstGeom prst="round2DiagRect">
              <a:avLst>
                <a:gd fmla="val 16667" name="adj1"/>
                <a:gd fmla="val 0" name="adj2"/>
              </a:avLst>
            </a:prstGeom>
            <a:solidFill>
              <a:srgbClr val="D8F2CF"/>
            </a:solidFill>
            <a:ln cap="flat" cmpd="sng" w="19050">
              <a:solidFill>
                <a:schemeClr val="lt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7" name="Google Shape;127;p6"/>
            <p:cNvSpPr/>
            <p:nvPr/>
          </p:nvSpPr>
          <p:spPr>
            <a:xfrm>
              <a:off x="514184" y="3761565"/>
              <a:ext cx="2397211" cy="941301"/>
            </a:xfrm>
            <a:prstGeom prst="round2DiagRect">
              <a:avLst>
                <a:gd fmla="val 16667" name="adj1"/>
                <a:gd fmla="val 0" name="adj2"/>
              </a:avLst>
            </a:prstGeom>
            <a:solidFill>
              <a:srgbClr val="D8F2CF"/>
            </a:solidFill>
            <a:ln cap="flat" cmpd="sng" w="19050">
              <a:solidFill>
                <a:schemeClr val="lt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8" name="Google Shape;128;p6"/>
            <p:cNvSpPr/>
            <p:nvPr/>
          </p:nvSpPr>
          <p:spPr>
            <a:xfrm>
              <a:off x="3269741" y="3761565"/>
              <a:ext cx="2397211" cy="941301"/>
            </a:xfrm>
            <a:prstGeom prst="round2DiagRect">
              <a:avLst>
                <a:gd fmla="val 16667" name="adj1"/>
                <a:gd fmla="val 0" name="adj2"/>
              </a:avLst>
            </a:prstGeom>
            <a:solidFill>
              <a:srgbClr val="D8F2CF"/>
            </a:solidFill>
            <a:ln cap="flat" cmpd="sng" w="19050">
              <a:solidFill>
                <a:schemeClr val="lt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9" name="Google Shape;129;p6"/>
            <p:cNvSpPr/>
            <p:nvPr/>
          </p:nvSpPr>
          <p:spPr>
            <a:xfrm>
              <a:off x="6021520" y="3761565"/>
              <a:ext cx="2397211" cy="941301"/>
            </a:xfrm>
            <a:prstGeom prst="round2DiagRect">
              <a:avLst>
                <a:gd fmla="val 16667" name="adj1"/>
                <a:gd fmla="val 0" name="adj2"/>
              </a:avLst>
            </a:prstGeom>
            <a:solidFill>
              <a:srgbClr val="D8F2CF"/>
            </a:solidFill>
            <a:ln cap="flat" cmpd="sng" w="19050">
              <a:solidFill>
                <a:schemeClr val="lt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0" name="Google Shape;130;p6"/>
            <p:cNvSpPr/>
            <p:nvPr/>
          </p:nvSpPr>
          <p:spPr>
            <a:xfrm>
              <a:off x="8773299" y="3761565"/>
              <a:ext cx="2397211" cy="941301"/>
            </a:xfrm>
            <a:prstGeom prst="round2DiagRect">
              <a:avLst>
                <a:gd fmla="val 16667" name="adj1"/>
                <a:gd fmla="val 0" name="adj2"/>
              </a:avLst>
            </a:prstGeom>
            <a:solidFill>
              <a:srgbClr val="D8F2CF"/>
            </a:solidFill>
            <a:ln cap="flat" cmpd="sng" w="19050">
              <a:solidFill>
                <a:schemeClr val="lt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pic>
        <p:nvPicPr>
          <p:cNvPr id="131" name="Google Shape;131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424163" y="5931243"/>
            <a:ext cx="595217" cy="64773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6" name="Google Shape;136;p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097480" y="5799817"/>
            <a:ext cx="863600" cy="9398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37" name="Google Shape;137;p7"/>
          <p:cNvGrpSpPr/>
          <p:nvPr/>
        </p:nvGrpSpPr>
        <p:grpSpPr>
          <a:xfrm>
            <a:off x="767837" y="2365251"/>
            <a:ext cx="10656326" cy="2312901"/>
            <a:chOff x="514184" y="2389965"/>
            <a:chExt cx="10656326" cy="2312901"/>
          </a:xfrm>
        </p:grpSpPr>
        <p:sp>
          <p:nvSpPr>
            <p:cNvPr id="138" name="Google Shape;138;p7"/>
            <p:cNvSpPr/>
            <p:nvPr/>
          </p:nvSpPr>
          <p:spPr>
            <a:xfrm>
              <a:off x="514184" y="2389965"/>
              <a:ext cx="2397211" cy="941301"/>
            </a:xfrm>
            <a:prstGeom prst="round2DiagRect">
              <a:avLst>
                <a:gd fmla="val 16667" name="adj1"/>
                <a:gd fmla="val 0" name="adj2"/>
              </a:avLst>
            </a:prstGeom>
            <a:solidFill>
              <a:srgbClr val="FAE2D5"/>
            </a:solidFill>
            <a:ln cap="flat" cmpd="sng" w="19050">
              <a:solidFill>
                <a:srgbClr val="FAE2D5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lang="es-ES" sz="1100">
                  <a:solidFill>
                    <a:schemeClr val="dk1"/>
                  </a:solidFill>
                </a:rPr>
                <a:t>Algunas pruebas de seguridad </a:t>
              </a:r>
              <a:r>
                <a:rPr b="1" lang="es-ES" sz="1100">
                  <a:solidFill>
                    <a:schemeClr val="dk1"/>
                  </a:solidFill>
                </a:rPr>
                <a:t>se </a:t>
              </a:r>
              <a:r>
                <a:rPr lang="es-ES" sz="1100">
                  <a:solidFill>
                    <a:schemeClr val="dk1"/>
                  </a:solidFill>
                </a:rPr>
                <a:t>iniciaron tarde, reduciendo el tiempo disponible para ajustes</a:t>
              </a:r>
              <a:endParaRPr b="0" i="0" sz="1600" u="none" cap="none" strike="noStrike">
                <a:solidFill>
                  <a:srgbClr val="5F5F5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9" name="Google Shape;139;p7"/>
            <p:cNvSpPr/>
            <p:nvPr/>
          </p:nvSpPr>
          <p:spPr>
            <a:xfrm>
              <a:off x="3269741" y="2389965"/>
              <a:ext cx="2397211" cy="941301"/>
            </a:xfrm>
            <a:prstGeom prst="round2DiagRect">
              <a:avLst>
                <a:gd fmla="val 16667" name="adj1"/>
                <a:gd fmla="val 0" name="adj2"/>
              </a:avLst>
            </a:prstGeom>
            <a:solidFill>
              <a:srgbClr val="FAE2D5"/>
            </a:solidFill>
            <a:ln cap="flat" cmpd="sng" w="19050">
              <a:solidFill>
                <a:srgbClr val="FAE2D5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lang="es-ES" sz="1100">
                  <a:solidFill>
                    <a:schemeClr val="dk1"/>
                  </a:solidFill>
                </a:rPr>
                <a:t>a documentación técnica se completó al final del sprint, sin revisión cruzada inmediata</a:t>
              </a:r>
              <a:endPara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0" name="Google Shape;140;p7"/>
            <p:cNvSpPr/>
            <p:nvPr/>
          </p:nvSpPr>
          <p:spPr>
            <a:xfrm>
              <a:off x="6021520" y="2389965"/>
              <a:ext cx="2397211" cy="941301"/>
            </a:xfrm>
            <a:prstGeom prst="round2DiagRect">
              <a:avLst>
                <a:gd fmla="val 16667" name="adj1"/>
                <a:gd fmla="val 0" name="adj2"/>
              </a:avLst>
            </a:prstGeom>
            <a:solidFill>
              <a:srgbClr val="FAE2D5"/>
            </a:solidFill>
            <a:ln cap="flat" cmpd="sng" w="19050">
              <a:solidFill>
                <a:srgbClr val="FAE2D5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600" u="none" cap="none" strike="noStrike">
                <a:solidFill>
                  <a:srgbClr val="5F5F5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1" name="Google Shape;141;p7"/>
            <p:cNvSpPr/>
            <p:nvPr/>
          </p:nvSpPr>
          <p:spPr>
            <a:xfrm>
              <a:off x="8773299" y="2389965"/>
              <a:ext cx="2397211" cy="941301"/>
            </a:xfrm>
            <a:prstGeom prst="round2DiagRect">
              <a:avLst>
                <a:gd fmla="val 16667" name="adj1"/>
                <a:gd fmla="val 0" name="adj2"/>
              </a:avLst>
            </a:prstGeom>
            <a:solidFill>
              <a:srgbClr val="FAE2D5"/>
            </a:solidFill>
            <a:ln cap="flat" cmpd="sng" w="19050">
              <a:solidFill>
                <a:srgbClr val="FAE2D5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2" name="Google Shape;142;p7"/>
            <p:cNvSpPr/>
            <p:nvPr/>
          </p:nvSpPr>
          <p:spPr>
            <a:xfrm>
              <a:off x="514184" y="3761565"/>
              <a:ext cx="2397211" cy="941301"/>
            </a:xfrm>
            <a:prstGeom prst="round2DiagRect">
              <a:avLst>
                <a:gd fmla="val 16667" name="adj1"/>
                <a:gd fmla="val 0" name="adj2"/>
              </a:avLst>
            </a:prstGeom>
            <a:solidFill>
              <a:srgbClr val="FAE2D5"/>
            </a:solidFill>
            <a:ln cap="flat" cmpd="sng" w="19050">
              <a:solidFill>
                <a:srgbClr val="FAE2D5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3" name="Google Shape;143;p7"/>
            <p:cNvSpPr/>
            <p:nvPr/>
          </p:nvSpPr>
          <p:spPr>
            <a:xfrm>
              <a:off x="3269741" y="3761565"/>
              <a:ext cx="2397211" cy="941301"/>
            </a:xfrm>
            <a:prstGeom prst="round2DiagRect">
              <a:avLst>
                <a:gd fmla="val 16667" name="adj1"/>
                <a:gd fmla="val 0" name="adj2"/>
              </a:avLst>
            </a:prstGeom>
            <a:solidFill>
              <a:srgbClr val="FAE2D5"/>
            </a:solidFill>
            <a:ln cap="flat" cmpd="sng" w="19050">
              <a:solidFill>
                <a:srgbClr val="FAE2D5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4" name="Google Shape;144;p7"/>
            <p:cNvSpPr/>
            <p:nvPr/>
          </p:nvSpPr>
          <p:spPr>
            <a:xfrm>
              <a:off x="6021520" y="3761565"/>
              <a:ext cx="2397211" cy="941301"/>
            </a:xfrm>
            <a:prstGeom prst="round2DiagRect">
              <a:avLst>
                <a:gd fmla="val 16667" name="adj1"/>
                <a:gd fmla="val 0" name="adj2"/>
              </a:avLst>
            </a:prstGeom>
            <a:solidFill>
              <a:srgbClr val="FAE2D5"/>
            </a:solidFill>
            <a:ln cap="flat" cmpd="sng" w="19050">
              <a:solidFill>
                <a:srgbClr val="FAE2D5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5" name="Google Shape;145;p7"/>
            <p:cNvSpPr/>
            <p:nvPr/>
          </p:nvSpPr>
          <p:spPr>
            <a:xfrm>
              <a:off x="8773299" y="3761565"/>
              <a:ext cx="2397211" cy="941301"/>
            </a:xfrm>
            <a:prstGeom prst="round2DiagRect">
              <a:avLst>
                <a:gd fmla="val 16667" name="adj1"/>
                <a:gd fmla="val 0" name="adj2"/>
              </a:avLst>
            </a:prstGeom>
            <a:solidFill>
              <a:srgbClr val="FAE2D5"/>
            </a:solidFill>
            <a:ln cap="flat" cmpd="sng" w="19050">
              <a:solidFill>
                <a:srgbClr val="FAE2D5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46" name="Google Shape;146;p7"/>
          <p:cNvSpPr txBox="1"/>
          <p:nvPr/>
        </p:nvSpPr>
        <p:spPr>
          <a:xfrm>
            <a:off x="767837" y="747066"/>
            <a:ext cx="8347075" cy="36509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6D1CC"/>
              </a:buClr>
              <a:buSzPts val="2400"/>
              <a:buFont typeface="Arial"/>
              <a:buNone/>
            </a:pPr>
            <a:r>
              <a:rPr b="1" i="0" lang="es-ES" sz="2400" u="none" cap="none" strike="noStrike">
                <a:solidFill>
                  <a:srgbClr val="36D1CC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¿Qué cosas NO funcionaron bien este ciclo de trabajo?</a:t>
            </a:r>
            <a:endParaRPr b="1" i="0" sz="2400" u="none" cap="none" strike="noStrike">
              <a:solidFill>
                <a:srgbClr val="36D1CC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47" name="Google Shape;147;p7"/>
          <p:cNvSpPr txBox="1"/>
          <p:nvPr/>
        </p:nvSpPr>
        <p:spPr>
          <a:xfrm>
            <a:off x="767837" y="1251160"/>
            <a:ext cx="10226976" cy="57285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rPr b="0" i="0" lang="es-ES" sz="1600" u="none" cap="none" strike="noStrike">
                <a:solidFill>
                  <a:schemeClr val="dk1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rPr>
              <a:t>Estas son las cosas que cómo equipo tenemos que dejar de hacer si es que queremos mejorar durante el próximo sprint</a:t>
            </a:r>
            <a:endParaRPr b="0" i="0" sz="1600" u="none" cap="none" strike="noStrike">
              <a:solidFill>
                <a:schemeClr val="dk1"/>
              </a:solidFill>
              <a:latin typeface="Helvetica Neue Light"/>
              <a:ea typeface="Helvetica Neue Light"/>
              <a:cs typeface="Helvetica Neue Light"/>
              <a:sym typeface="Helvetica Neue Light"/>
            </a:endParaRPr>
          </a:p>
        </p:txBody>
      </p:sp>
      <p:sp>
        <p:nvSpPr>
          <p:cNvPr id="148" name="Google Shape;148;p7"/>
          <p:cNvSpPr txBox="1"/>
          <p:nvPr/>
        </p:nvSpPr>
        <p:spPr>
          <a:xfrm>
            <a:off x="767837" y="5824504"/>
            <a:ext cx="9797190" cy="57285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A3A3A"/>
              </a:buClr>
              <a:buSzPts val="1200"/>
              <a:buFont typeface="Arial"/>
              <a:buNone/>
            </a:pPr>
            <a:r>
              <a:rPr b="0" i="1" lang="es-ES" sz="1200" u="none" cap="none" strike="noStrike">
                <a:solidFill>
                  <a:srgbClr val="3A3A3A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rPr>
              <a:t> El facilitador puede utilizar la técnica del ping pong para preguntar a cada miembro del equipo qué opina sobre algún post it en particular. La idea es que todos vayan opinando</a:t>
            </a:r>
            <a:endParaRPr b="0" i="1" sz="1200" u="none" cap="none" strike="noStrike">
              <a:solidFill>
                <a:srgbClr val="3A3A3A"/>
              </a:solidFill>
              <a:latin typeface="Helvetica Neue Light"/>
              <a:ea typeface="Helvetica Neue Light"/>
              <a:cs typeface="Helvetica Neue Light"/>
              <a:sym typeface="Helvetica Neue Light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p8"/>
          <p:cNvSpPr txBox="1"/>
          <p:nvPr/>
        </p:nvSpPr>
        <p:spPr>
          <a:xfrm>
            <a:off x="449262" y="496571"/>
            <a:ext cx="10479995" cy="52352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6D1CC"/>
              </a:buClr>
              <a:buSzPts val="2400"/>
              <a:buFont typeface="Arial"/>
              <a:buNone/>
            </a:pPr>
            <a:r>
              <a:rPr b="1" i="0" lang="es-ES" sz="2400" u="none" cap="none" strike="noStrike">
                <a:solidFill>
                  <a:srgbClr val="36D1CC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¿Qué cosas podemos hacer para mejorar durante el próximo sprint?</a:t>
            </a:r>
            <a:endParaRPr b="1" i="0" sz="2400" u="none" cap="none" strike="noStrike">
              <a:solidFill>
                <a:srgbClr val="36D1CC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54" name="Google Shape;154;p8"/>
          <p:cNvSpPr txBox="1"/>
          <p:nvPr/>
        </p:nvSpPr>
        <p:spPr>
          <a:xfrm>
            <a:off x="449261" y="995611"/>
            <a:ext cx="10479995" cy="33554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rPr b="0" i="0" lang="es-ES" sz="1600" u="none" cap="none" strike="noStrike">
                <a:solidFill>
                  <a:schemeClr val="dk1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rPr>
              <a:t>Estas son las cosas que cómo equipo podemos hacer para mejorar nuestra eficiencia. Corresponde a los planes de acción que estén en nuestras manos ejecutar</a:t>
            </a:r>
            <a:endParaRPr b="0" i="0" sz="1600" u="none" cap="none" strike="noStrike">
              <a:solidFill>
                <a:schemeClr val="dk1"/>
              </a:solidFill>
              <a:latin typeface="Helvetica Neue Light"/>
              <a:ea typeface="Helvetica Neue Light"/>
              <a:cs typeface="Helvetica Neue Light"/>
              <a:sym typeface="Helvetica Neue Light"/>
            </a:endParaRPr>
          </a:p>
        </p:txBody>
      </p:sp>
      <p:sp>
        <p:nvSpPr>
          <p:cNvPr id="155" name="Google Shape;155;p8"/>
          <p:cNvSpPr txBox="1"/>
          <p:nvPr/>
        </p:nvSpPr>
        <p:spPr>
          <a:xfrm>
            <a:off x="449261" y="6314485"/>
            <a:ext cx="8290864" cy="33554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A3A3A"/>
              </a:buClr>
              <a:buSzPts val="1722"/>
              <a:buFont typeface="Helvetica Neue Light"/>
              <a:buNone/>
            </a:pPr>
            <a:r>
              <a:rPr b="0" i="1" lang="es-ES" sz="1400" u="none" cap="none" strike="noStrike">
                <a:solidFill>
                  <a:srgbClr val="3A3A3A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rPr>
              <a:t>Los accionables deben enfocarse a cosas que el equipo puede ejecutar dentro de un sprint de trabajo</a:t>
            </a:r>
            <a:endParaRPr b="0" i="1" sz="1400" u="none" cap="none" strike="noStrike">
              <a:solidFill>
                <a:srgbClr val="3A3A3A"/>
              </a:solidFill>
              <a:latin typeface="Helvetica Neue Light"/>
              <a:ea typeface="Helvetica Neue Light"/>
              <a:cs typeface="Helvetica Neue Light"/>
              <a:sym typeface="Helvetica Neue Light"/>
            </a:endParaRPr>
          </a:p>
        </p:txBody>
      </p:sp>
      <p:sp>
        <p:nvSpPr>
          <p:cNvPr id="156" name="Google Shape;156;p8"/>
          <p:cNvSpPr txBox="1"/>
          <p:nvPr/>
        </p:nvSpPr>
        <p:spPr>
          <a:xfrm>
            <a:off x="6298748" y="4596205"/>
            <a:ext cx="1023333" cy="38122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A3A3A"/>
              </a:buClr>
              <a:buSzPts val="1230"/>
              <a:buFont typeface="Helvetica Neue Light"/>
              <a:buNone/>
            </a:pPr>
            <a:r>
              <a:rPr b="0" i="1" lang="es-ES" sz="1000" u="none" cap="none" strike="noStrike">
                <a:solidFill>
                  <a:srgbClr val="3A3A3A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rPr>
              <a:t>Agrupar por tema</a:t>
            </a:r>
            <a:endParaRPr b="0" i="1" sz="1000" u="none" cap="none" strike="noStrike">
              <a:solidFill>
                <a:srgbClr val="3A3A3A"/>
              </a:solidFill>
              <a:latin typeface="Helvetica Neue Light"/>
              <a:ea typeface="Helvetica Neue Light"/>
              <a:cs typeface="Helvetica Neue Light"/>
              <a:sym typeface="Helvetica Neue Light"/>
            </a:endParaRPr>
          </a:p>
        </p:txBody>
      </p:sp>
      <p:sp>
        <p:nvSpPr>
          <p:cNvPr id="157" name="Google Shape;157;p8"/>
          <p:cNvSpPr/>
          <p:nvPr/>
        </p:nvSpPr>
        <p:spPr>
          <a:xfrm>
            <a:off x="807607" y="2091940"/>
            <a:ext cx="2397211" cy="941301"/>
          </a:xfrm>
          <a:prstGeom prst="round2DiagRect">
            <a:avLst>
              <a:gd fmla="val 16667" name="adj1"/>
              <a:gd fmla="val 0" name="adj2"/>
            </a:avLst>
          </a:prstGeom>
          <a:solidFill>
            <a:srgbClr val="36D1CC"/>
          </a:solidFill>
          <a:ln cap="flat" cmpd="sng" w="19050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0" i="0" lang="es-ES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s-ES" sz="1100">
                <a:solidFill>
                  <a:schemeClr val="lt1"/>
                </a:solidFill>
              </a:rPr>
              <a:t>Distribuir mejor las tareas de cierre (QA, documentación, despliegue) para evitar concentrarlas en los últimos días</a:t>
            </a:r>
            <a:endParaRPr b="0" i="0" sz="16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8" name="Google Shape;158;p8"/>
          <p:cNvSpPr/>
          <p:nvPr/>
        </p:nvSpPr>
        <p:spPr>
          <a:xfrm>
            <a:off x="807607" y="3278189"/>
            <a:ext cx="2397211" cy="941301"/>
          </a:xfrm>
          <a:prstGeom prst="round2DiagRect">
            <a:avLst>
              <a:gd fmla="val 16667" name="adj1"/>
              <a:gd fmla="val 0" name="adj2"/>
            </a:avLst>
          </a:prstGeom>
          <a:solidFill>
            <a:srgbClr val="36D1CC"/>
          </a:solidFill>
          <a:ln cap="flat" cmpd="sng" w="19050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s-ES" sz="1100">
                <a:solidFill>
                  <a:schemeClr val="lt1"/>
                </a:solidFill>
              </a:rPr>
              <a:t>Fomentar la creación de guías técnicas y de soporte desde etapas intermedias, para asegurar continuidad y trazabilidad</a:t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9" name="Google Shape;159;p8"/>
          <p:cNvSpPr/>
          <p:nvPr/>
        </p:nvSpPr>
        <p:spPr>
          <a:xfrm>
            <a:off x="807607" y="4464437"/>
            <a:ext cx="2397211" cy="941301"/>
          </a:xfrm>
          <a:prstGeom prst="round2DiagRect">
            <a:avLst>
              <a:gd fmla="val 16667" name="adj1"/>
              <a:gd fmla="val 0" name="adj2"/>
            </a:avLst>
          </a:prstGeom>
          <a:solidFill>
            <a:srgbClr val="36D1CC"/>
          </a:solidFill>
          <a:ln cap="flat" cmpd="sng" w="19050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0" name="Google Shape;160;p8"/>
          <p:cNvSpPr/>
          <p:nvPr/>
        </p:nvSpPr>
        <p:spPr>
          <a:xfrm>
            <a:off x="3390169" y="2079583"/>
            <a:ext cx="2397300" cy="941400"/>
          </a:xfrm>
          <a:prstGeom prst="round2DiagRect">
            <a:avLst>
              <a:gd fmla="val 16667" name="adj1"/>
              <a:gd fmla="val 0" name="adj2"/>
            </a:avLst>
          </a:prstGeom>
          <a:solidFill>
            <a:srgbClr val="36D1CC"/>
          </a:solidFill>
          <a:ln cap="flat" cmpd="sng" w="19050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 b="0" i="0" sz="16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1" name="Google Shape;161;p8"/>
          <p:cNvSpPr/>
          <p:nvPr/>
        </p:nvSpPr>
        <p:spPr>
          <a:xfrm>
            <a:off x="3390169" y="3265832"/>
            <a:ext cx="2397211" cy="941301"/>
          </a:xfrm>
          <a:prstGeom prst="round2DiagRect">
            <a:avLst>
              <a:gd fmla="val 16667" name="adj1"/>
              <a:gd fmla="val 0" name="adj2"/>
            </a:avLst>
          </a:prstGeom>
          <a:solidFill>
            <a:srgbClr val="36D1CC"/>
          </a:solidFill>
          <a:ln cap="flat" cmpd="sng" w="19050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2" name="Google Shape;162;p8"/>
          <p:cNvSpPr/>
          <p:nvPr/>
        </p:nvSpPr>
        <p:spPr>
          <a:xfrm>
            <a:off x="3390169" y="4452080"/>
            <a:ext cx="2397211" cy="941301"/>
          </a:xfrm>
          <a:prstGeom prst="round2DiagRect">
            <a:avLst>
              <a:gd fmla="val 16667" name="adj1"/>
              <a:gd fmla="val 0" name="adj2"/>
            </a:avLst>
          </a:prstGeom>
          <a:solidFill>
            <a:srgbClr val="36D1CC"/>
          </a:solidFill>
          <a:ln cap="flat" cmpd="sng" w="19050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3" name="Google Shape;163;p8"/>
          <p:cNvSpPr/>
          <p:nvPr/>
        </p:nvSpPr>
        <p:spPr>
          <a:xfrm>
            <a:off x="6245640" y="3278189"/>
            <a:ext cx="1305697" cy="790490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D0D0D0"/>
          </a:solidFill>
          <a:ln cap="flat" cmpd="sng" w="19050">
            <a:solidFill>
              <a:srgbClr val="D0D0D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4" name="Google Shape;164;p8"/>
          <p:cNvSpPr/>
          <p:nvPr/>
        </p:nvSpPr>
        <p:spPr>
          <a:xfrm>
            <a:off x="8987184" y="2027406"/>
            <a:ext cx="2333504" cy="1106312"/>
          </a:xfrm>
          <a:prstGeom prst="snip1Rect">
            <a:avLst>
              <a:gd fmla="val 16667" name="adj"/>
            </a:avLst>
          </a:prstGeom>
          <a:solidFill>
            <a:srgbClr val="36D1CC"/>
          </a:solidFill>
          <a:ln cap="flat" cmpd="sng" w="38100">
            <a:solidFill>
              <a:schemeClr val="lt2"/>
            </a:solidFill>
            <a:prstDash val="solid"/>
            <a:miter lim="400000"/>
            <a:headEnd len="sm" w="sm" type="none"/>
            <a:tailEnd len="sm" w="sm" type="none"/>
          </a:ln>
        </p:spPr>
        <p:txBody>
          <a:bodyPr anchorCtr="0" anchor="ctr" bIns="50800" lIns="50800" spcFirstLastPara="1" rIns="50800" wrap="square" tIns="508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Helvetica Neue"/>
              <a:buNone/>
            </a:pPr>
            <a:r>
              <a:t/>
            </a:r>
            <a:endParaRPr b="0" i="0" sz="1100" u="none" cap="none" strike="noStrike">
              <a:solidFill>
                <a:schemeClr val="lt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65" name="Google Shape;165;p8"/>
          <p:cNvSpPr/>
          <p:nvPr/>
        </p:nvSpPr>
        <p:spPr>
          <a:xfrm>
            <a:off x="7933535" y="2607459"/>
            <a:ext cx="1164936" cy="1106312"/>
          </a:xfrm>
          <a:prstGeom prst="ellipse">
            <a:avLst/>
          </a:prstGeom>
          <a:solidFill>
            <a:schemeClr val="lt1"/>
          </a:solidFill>
          <a:ln cap="flat" cmpd="sng" w="19050">
            <a:solidFill>
              <a:srgbClr val="36D1CC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50800" lIns="50800" spcFirstLastPara="1" rIns="50800" wrap="square" tIns="508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6D1CC"/>
              </a:buClr>
              <a:buSzPts val="1000"/>
              <a:buFont typeface="Helvetica Neue"/>
              <a:buNone/>
            </a:pPr>
            <a:r>
              <a:rPr b="0" i="0" lang="es-ES" sz="1000" u="none" cap="none" strike="noStrike">
                <a:solidFill>
                  <a:srgbClr val="36D1CC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Tema 1</a:t>
            </a:r>
            <a:endParaRPr b="0" i="0" sz="1000" u="none" cap="none" strike="noStrike">
              <a:solidFill>
                <a:srgbClr val="36D1CC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66" name="Google Shape;166;p8"/>
          <p:cNvSpPr/>
          <p:nvPr/>
        </p:nvSpPr>
        <p:spPr>
          <a:xfrm>
            <a:off x="9086038" y="3880919"/>
            <a:ext cx="2333504" cy="1106312"/>
          </a:xfrm>
          <a:prstGeom prst="snip1Rect">
            <a:avLst>
              <a:gd fmla="val 16667" name="adj"/>
            </a:avLst>
          </a:prstGeom>
          <a:solidFill>
            <a:srgbClr val="36D1CC"/>
          </a:solidFill>
          <a:ln cap="flat" cmpd="sng" w="38100">
            <a:solidFill>
              <a:schemeClr val="lt2"/>
            </a:solidFill>
            <a:prstDash val="solid"/>
            <a:miter lim="400000"/>
            <a:headEnd len="sm" w="sm" type="none"/>
            <a:tailEnd len="sm" w="sm" type="none"/>
          </a:ln>
        </p:spPr>
        <p:txBody>
          <a:bodyPr anchorCtr="0" anchor="ctr" bIns="50800" lIns="50800" spcFirstLastPara="1" rIns="50800" wrap="square" tIns="508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Helvetica Neue"/>
              <a:buNone/>
            </a:pPr>
            <a:r>
              <a:t/>
            </a:r>
            <a:endParaRPr b="0" i="0" sz="1100" u="none" cap="none" strike="noStrike">
              <a:solidFill>
                <a:schemeClr val="lt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67" name="Google Shape;167;p8"/>
          <p:cNvSpPr/>
          <p:nvPr/>
        </p:nvSpPr>
        <p:spPr>
          <a:xfrm>
            <a:off x="8032389" y="4460972"/>
            <a:ext cx="1164936" cy="1106312"/>
          </a:xfrm>
          <a:prstGeom prst="ellipse">
            <a:avLst/>
          </a:prstGeom>
          <a:solidFill>
            <a:schemeClr val="lt1"/>
          </a:solidFill>
          <a:ln cap="flat" cmpd="sng" w="19050">
            <a:solidFill>
              <a:srgbClr val="36D1CC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50800" lIns="50800" spcFirstLastPara="1" rIns="50800" wrap="square" tIns="508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6D1CC"/>
              </a:buClr>
              <a:buSzPts val="1000"/>
              <a:buFont typeface="Helvetica Neue"/>
              <a:buNone/>
            </a:pPr>
            <a:r>
              <a:rPr b="0" i="0" lang="es-ES" sz="1000" u="none" cap="none" strike="noStrike">
                <a:solidFill>
                  <a:srgbClr val="36D1CC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Tema 2</a:t>
            </a:r>
            <a:endParaRPr b="0" i="0" sz="1000" u="none" cap="none" strike="noStrike">
              <a:solidFill>
                <a:srgbClr val="36D1CC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p9"/>
          <p:cNvSpPr/>
          <p:nvPr/>
        </p:nvSpPr>
        <p:spPr>
          <a:xfrm>
            <a:off x="0" y="3991232"/>
            <a:ext cx="12192000" cy="2866768"/>
          </a:xfrm>
          <a:prstGeom prst="rect">
            <a:avLst/>
          </a:prstGeom>
          <a:solidFill>
            <a:srgbClr val="36D1C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0"/>
              <a:buFont typeface="Arial"/>
              <a:buNone/>
            </a:pPr>
            <a:r>
              <a:rPr b="1" i="0" lang="es-ES" sz="8000" u="none" cap="none" strike="noStrike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¡Gracias!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73" name="Google Shape;173;p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099658" y="706738"/>
            <a:ext cx="5992684" cy="3393448"/>
          </a:xfrm>
          <a:prstGeom prst="rect">
            <a:avLst/>
          </a:prstGeom>
          <a:noFill/>
          <a:ln>
            <a:noFill/>
          </a:ln>
        </p:spPr>
      </p:pic>
      <p:pic>
        <p:nvPicPr>
          <p:cNvPr id="174" name="Google Shape;174;p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81116" y="216415"/>
            <a:ext cx="1164625" cy="109311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Tema de Office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2025-08-25T14:09:55Z</dcterms:created>
  <dc:creator>Jenny Vargas</dc:creator>
</cp:coreProperties>
</file>