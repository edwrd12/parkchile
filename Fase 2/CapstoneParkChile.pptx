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Open Sauce Light" charset="1" panose="00000400000000000000"/>
      <p:regular r:id="rId29"/>
    </p:embeddedFont>
    <p:embeddedFont>
      <p:font typeface="Open Sans Bold" charset="1" panose="020B0806030504020204"/>
      <p:regular r:id="rId30"/>
    </p:embeddedFont>
    <p:embeddedFont>
      <p:font typeface="Brittany" charset="1" panose="00000000000000000000"/>
      <p:regular r:id="rId31"/>
    </p:embeddedFont>
    <p:embeddedFont>
      <p:font typeface="Open Sauce Bold" charset="1" panose="00000800000000000000"/>
      <p:regular r:id="rId32"/>
    </p:embeddedFont>
    <p:embeddedFont>
      <p:font typeface="Open Sauce" charset="1" panose="00000500000000000000"/>
      <p:regular r:id="rId33"/>
    </p:embeddedFont>
    <p:embeddedFont>
      <p:font typeface="Open Sauce Heavy" charset="1" panose="00000A00000000000000"/>
      <p:regular r:id="rId34"/>
    </p:embeddedFont>
    <p:embeddedFont>
      <p:font typeface="Open Sans Light" charset="1" panose="020B0306030504020204"/>
      <p:regular r:id="rId35"/>
    </p:embeddedFont>
    <p:embeddedFont>
      <p:font typeface="Open Sans" charset="1" panose="020B0606030504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gif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2.png" Type="http://schemas.openxmlformats.org/officeDocument/2006/relationships/image"/><Relationship Id="rId6" Target="../media/image19.png" Type="http://schemas.openxmlformats.org/officeDocument/2006/relationships/image"/><Relationship Id="rId7" Target="../media/image18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gif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9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https://docs.google.com/spreadsheets/d/1xGlfAx5gp1nKPONwn1EWF0-LS5RJuEvT/edit?usp=drive_link&amp;ouid=112137381175738937054&amp;rtpof=true&amp;sd=true" TargetMode="External" Type="http://schemas.openxmlformats.org/officeDocument/2006/relationships/hyperlink"/><Relationship Id="rId16" Target="https://docs.google.com/spreadsheets/d/1Z_CEjZBNUBeKzM4430rDpj5ILq93EWUaVkd3A417FJI/edit?usp=drive_link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https://docs.google.com/spreadsheets/d/1M6WrG0VjQUX9UrdUqHZtxs6QC7YA1Jkw/edit?usp=drive_link&amp;ouid=112137381175738937054&amp;rtpof=true&amp;sd=true" TargetMode="External" Type="http://schemas.openxmlformats.org/officeDocument/2006/relationships/hyperlink"/><Relationship Id="rId9" Target="https://docs.google.com/document/d/1OwtJD4nhC9p2fsx-AaKZAEJU2WQQteM4/edit?usp=drive_link&amp;ouid=112137381175738937054&amp;rtpof=true&amp;sd=true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https://docs.google.com/spreadsheets/d/1jdONXc1t0PXaUMvGRAbBnw6lfiJ83BGW/edit?usp=drive_link&amp;ouid=112137381175738937054&amp;rtpof=true&amp;sd=true" TargetMode="External" Type="http://schemas.openxmlformats.org/officeDocument/2006/relationships/hyperlink"/><Relationship Id="rId9" Target="https://docs.google.com/document/d/1Oj1q8tDDRZem7NqIr1ewuQP1Zf3fewZ2/edit?usp=drive_link&amp;ouid=112137381175738937054&amp;rtpof=true&amp;sd=true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https://docs.google.com/spreadsheets/d/1bSDjIef_2pyLwfZD-jQxus_vRkz-D_my/edit?gid=1128254782#gid=1128254782" TargetMode="External" Type="http://schemas.openxmlformats.org/officeDocument/2006/relationships/hyperlink"/><Relationship Id="rId9" Target="https://docs.google.com/document/d/11LOffbEAF8JSLyVwKgfzznAw6T2c9we5/edit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4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6518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14356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72194" y="5742339"/>
            <a:ext cx="191960" cy="191960"/>
          </a:xfrm>
          <a:custGeom>
            <a:avLst/>
            <a:gdLst/>
            <a:ahLst/>
            <a:cxnLst/>
            <a:rect r="r" b="b" t="t" l="l"/>
            <a:pathLst>
              <a:path h="191960" w="191960">
                <a:moveTo>
                  <a:pt x="0" y="0"/>
                </a:moveTo>
                <a:lnTo>
                  <a:pt x="191960" y="0"/>
                </a:lnTo>
                <a:lnTo>
                  <a:pt x="191960" y="191959"/>
                </a:lnTo>
                <a:lnTo>
                  <a:pt x="0" y="19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16924" y="6279318"/>
            <a:ext cx="3567843" cy="6356958"/>
          </a:xfrm>
          <a:custGeom>
            <a:avLst/>
            <a:gdLst/>
            <a:ahLst/>
            <a:cxnLst/>
            <a:rect r="r" b="b" t="t" l="l"/>
            <a:pathLst>
              <a:path h="6356958" w="3567843">
                <a:moveTo>
                  <a:pt x="0" y="0"/>
                </a:moveTo>
                <a:lnTo>
                  <a:pt x="3567843" y="0"/>
                </a:lnTo>
                <a:lnTo>
                  <a:pt x="356784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99687" y="193135"/>
            <a:ext cx="3202318" cy="6356958"/>
          </a:xfrm>
          <a:custGeom>
            <a:avLst/>
            <a:gdLst/>
            <a:ahLst/>
            <a:cxnLst/>
            <a:rect r="r" b="b" t="t" l="l"/>
            <a:pathLst>
              <a:path h="6356958" w="3202318">
                <a:moveTo>
                  <a:pt x="0" y="0"/>
                </a:moveTo>
                <a:lnTo>
                  <a:pt x="3202318" y="0"/>
                </a:lnTo>
                <a:lnTo>
                  <a:pt x="320231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00059" y="5342997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00059" y="-1276910"/>
            <a:ext cx="3416865" cy="6356958"/>
          </a:xfrm>
          <a:custGeom>
            <a:avLst/>
            <a:gdLst/>
            <a:ahLst/>
            <a:cxnLst/>
            <a:rect r="r" b="b" t="t" l="l"/>
            <a:pathLst>
              <a:path h="6356958" w="3416865">
                <a:moveTo>
                  <a:pt x="0" y="0"/>
                </a:moveTo>
                <a:lnTo>
                  <a:pt x="3416865" y="0"/>
                </a:lnTo>
                <a:lnTo>
                  <a:pt x="34168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6518" y="3627506"/>
            <a:ext cx="351093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Aplicación móvil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6518" y="6338917"/>
            <a:ext cx="4077444" cy="753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Comparte tu estacionamiento,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fácil y seguro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6518" y="3956436"/>
            <a:ext cx="561029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8489" y="2962660"/>
            <a:ext cx="2034704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Nueva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66800"/>
            <a:ext cx="180625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Tabla 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58144" y="3832738"/>
            <a:ext cx="1598637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Contexto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58144" y="5911521"/>
            <a:ext cx="180915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Necesidad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58144" y="7654889"/>
            <a:ext cx="145144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Solución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59889"/>
            <a:ext cx="4319364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51280" y="4080388"/>
            <a:ext cx="20395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Arquitectura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79855" y="5778166"/>
            <a:ext cx="21306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Metodología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51280" y="7654889"/>
            <a:ext cx="115453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Equipo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21836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21836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21836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92447" y="4080388"/>
            <a:ext cx="176792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Evidencias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63616" y="4079746"/>
            <a:ext cx="96611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Sprint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21022" y="5911521"/>
            <a:ext cx="11150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Épicas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92191" y="5910879"/>
            <a:ext cx="209721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Planificación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92447" y="7654889"/>
            <a:ext cx="26294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Requerimientos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63616" y="7654246"/>
            <a:ext cx="228384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Conclusiones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63003" y="352585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34172" y="3525216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63003" y="5287322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34172" y="528668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63003" y="7050070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34172" y="7049428"/>
            <a:ext cx="1029444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40"/>
              </a:lnSpc>
            </a:pPr>
            <a:r>
              <a:rPr lang="en-US" sz="71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2487637"/>
            <a:ext cx="1107636" cy="191960"/>
            <a:chOff x="0" y="0"/>
            <a:chExt cx="1476848" cy="2559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36364" y="2175268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635738" y="3193008"/>
            <a:ext cx="3834988" cy="2636324"/>
            <a:chOff x="0" y="0"/>
            <a:chExt cx="1010038" cy="6943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0038" cy="694341"/>
            </a:xfrm>
            <a:custGeom>
              <a:avLst/>
              <a:gdLst/>
              <a:ahLst/>
              <a:cxnLst/>
              <a:rect r="r" b="b" t="t" l="l"/>
              <a:pathLst>
                <a:path h="694341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19646"/>
                  </a:lnTo>
                  <a:cubicBezTo>
                    <a:pt x="1010038" y="660899"/>
                    <a:pt x="976596" y="694341"/>
                    <a:pt x="935344" y="694341"/>
                  </a:cubicBezTo>
                  <a:lnTo>
                    <a:pt x="74694" y="694341"/>
                  </a:lnTo>
                  <a:cubicBezTo>
                    <a:pt x="33442" y="694341"/>
                    <a:pt x="0" y="660899"/>
                    <a:pt x="0" y="619646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10038" cy="722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05785" y="3193008"/>
            <a:ext cx="3834988" cy="2582399"/>
            <a:chOff x="0" y="0"/>
            <a:chExt cx="1010038" cy="6801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0038" cy="680138"/>
            </a:xfrm>
            <a:custGeom>
              <a:avLst/>
              <a:gdLst/>
              <a:ahLst/>
              <a:cxnLst/>
              <a:rect r="r" b="b" t="t" l="l"/>
              <a:pathLst>
                <a:path h="680138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05444"/>
                  </a:lnTo>
                  <a:cubicBezTo>
                    <a:pt x="1010038" y="646696"/>
                    <a:pt x="976596" y="680138"/>
                    <a:pt x="935344" y="680138"/>
                  </a:cubicBezTo>
                  <a:lnTo>
                    <a:pt x="74694" y="680138"/>
                  </a:lnTo>
                  <a:cubicBezTo>
                    <a:pt x="33442" y="680138"/>
                    <a:pt x="0" y="646696"/>
                    <a:pt x="0" y="605444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10038" cy="708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0097" y="3193008"/>
            <a:ext cx="3834988" cy="2582399"/>
            <a:chOff x="0" y="0"/>
            <a:chExt cx="1010038" cy="6801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0038" cy="680138"/>
            </a:xfrm>
            <a:custGeom>
              <a:avLst/>
              <a:gdLst/>
              <a:ahLst/>
              <a:cxnLst/>
              <a:rect r="r" b="b" t="t" l="l"/>
              <a:pathLst>
                <a:path h="680138" w="1010038">
                  <a:moveTo>
                    <a:pt x="74694" y="0"/>
                  </a:moveTo>
                  <a:lnTo>
                    <a:pt x="935344" y="0"/>
                  </a:lnTo>
                  <a:cubicBezTo>
                    <a:pt x="955154" y="0"/>
                    <a:pt x="974153" y="7870"/>
                    <a:pt x="988161" y="21877"/>
                  </a:cubicBezTo>
                  <a:cubicBezTo>
                    <a:pt x="1002168" y="35885"/>
                    <a:pt x="1010038" y="54884"/>
                    <a:pt x="1010038" y="74694"/>
                  </a:cubicBezTo>
                  <a:lnTo>
                    <a:pt x="1010038" y="605444"/>
                  </a:lnTo>
                  <a:cubicBezTo>
                    <a:pt x="1010038" y="646696"/>
                    <a:pt x="976596" y="680138"/>
                    <a:pt x="935344" y="680138"/>
                  </a:cubicBezTo>
                  <a:lnTo>
                    <a:pt x="74694" y="680138"/>
                  </a:lnTo>
                  <a:cubicBezTo>
                    <a:pt x="33442" y="680138"/>
                    <a:pt x="0" y="646696"/>
                    <a:pt x="0" y="605444"/>
                  </a:cubicBezTo>
                  <a:lnTo>
                    <a:pt x="0" y="74694"/>
                  </a:lnTo>
                  <a:cubicBezTo>
                    <a:pt x="0" y="33442"/>
                    <a:pt x="33442" y="0"/>
                    <a:pt x="7469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10038" cy="708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563069" y="4646478"/>
            <a:ext cx="4371265" cy="5993025"/>
          </a:xfrm>
          <a:custGeom>
            <a:avLst/>
            <a:gdLst/>
            <a:ahLst/>
            <a:cxnLst/>
            <a:rect r="r" b="b" t="t" l="l"/>
            <a:pathLst>
              <a:path h="5993025" w="4371265">
                <a:moveTo>
                  <a:pt x="0" y="0"/>
                </a:moveTo>
                <a:lnTo>
                  <a:pt x="4371265" y="0"/>
                </a:lnTo>
                <a:lnTo>
                  <a:pt x="4371265" y="5993025"/>
                </a:lnTo>
                <a:lnTo>
                  <a:pt x="0" y="599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25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2562354">
            <a:off x="15379808" y="5443239"/>
            <a:ext cx="759242" cy="664337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42534" y="5226217"/>
            <a:ext cx="3741069" cy="5013158"/>
          </a:xfrm>
          <a:custGeom>
            <a:avLst/>
            <a:gdLst/>
            <a:ahLst/>
            <a:cxnLst/>
            <a:rect r="r" b="b" t="t" l="l"/>
            <a:pathLst>
              <a:path h="5013158" w="3741069">
                <a:moveTo>
                  <a:pt x="0" y="0"/>
                </a:moveTo>
                <a:lnTo>
                  <a:pt x="3741068" y="0"/>
                </a:lnTo>
                <a:lnTo>
                  <a:pt x="3741068" y="5013158"/>
                </a:lnTo>
                <a:lnTo>
                  <a:pt x="0" y="5013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502592" y="5514029"/>
            <a:ext cx="4772971" cy="4772971"/>
          </a:xfrm>
          <a:custGeom>
            <a:avLst/>
            <a:gdLst/>
            <a:ahLst/>
            <a:cxnLst/>
            <a:rect r="r" b="b" t="t" l="l"/>
            <a:pathLst>
              <a:path h="4772971" w="4772971">
                <a:moveTo>
                  <a:pt x="0" y="0"/>
                </a:moveTo>
                <a:lnTo>
                  <a:pt x="4772971" y="0"/>
                </a:lnTo>
                <a:lnTo>
                  <a:pt x="4772971" y="4772971"/>
                </a:lnTo>
                <a:lnTo>
                  <a:pt x="0" y="4772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187683" y="904875"/>
            <a:ext cx="285616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Equipo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66997" y="3803171"/>
            <a:ext cx="297247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Jenny Vargas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87683" y="3803171"/>
            <a:ext cx="3471193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Matias Villegas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0626" y="3803171"/>
            <a:ext cx="37139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Eduardo Zamora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44723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Diseñador, PO, Desarrollador Frontend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82056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Desarrollador Full Stack, Scrum Master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058" y="4519107"/>
            <a:ext cx="2817019" cy="62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Desarrollador Full Stack,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1785">
                <a:solidFill>
                  <a:srgbClr val="545454"/>
                </a:solidFill>
                <a:latin typeface="Open Sauce"/>
                <a:ea typeface="Open Sauce"/>
                <a:cs typeface="Open Sauce"/>
                <a:sym typeface="Open Sauce"/>
              </a:rPr>
              <a:t>Analista de datos</a:t>
            </a:r>
          </a:p>
        </p:txBody>
      </p:sp>
      <p:grpSp>
        <p:nvGrpSpPr>
          <p:cNvPr name="Group 28" id="28"/>
          <p:cNvGrpSpPr/>
          <p:nvPr/>
        </p:nvGrpSpPr>
        <p:grpSpPr>
          <a:xfrm rot="-2562354">
            <a:off x="9775004" y="5395614"/>
            <a:ext cx="759242" cy="664337"/>
            <a:chOff x="0" y="0"/>
            <a:chExt cx="8128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2562354">
            <a:off x="4137667" y="5395614"/>
            <a:ext cx="759242" cy="664337"/>
            <a:chOff x="0" y="0"/>
            <a:chExt cx="812800" cy="71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64519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131096" y="0"/>
            <a:ext cx="10156904" cy="10287000"/>
          </a:xfrm>
          <a:custGeom>
            <a:avLst/>
            <a:gdLst/>
            <a:ahLst/>
            <a:cxnLst/>
            <a:rect r="r" b="b" t="t" l="l"/>
            <a:pathLst>
              <a:path h="10287000" w="10156904">
                <a:moveTo>
                  <a:pt x="0" y="0"/>
                </a:moveTo>
                <a:lnTo>
                  <a:pt x="10156904" y="0"/>
                </a:lnTo>
                <a:lnTo>
                  <a:pt x="101569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016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986031"/>
            <a:ext cx="6007553" cy="4276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  <a:spcBef>
                <a:spcPct val="0"/>
              </a:spcBef>
            </a:pPr>
            <a:r>
              <a:rPr lang="en-US" sz="224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 las principales ciudad</a:t>
            </a:r>
            <a:r>
              <a:rPr lang="en-US" sz="224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es, la movilidad urbana se ha vuelto un tema central debido al crecimiento del parque automotriz y a la necesidad de contar con espacios de estacionamiento más accesibles y eficientes. Las tecnologías digitales han abierto nuevas oportunidades para conectar a conductores y propietarios de espacios, generando soluciones innovadoras que optimizan recursos y mejoran la experiencia de transporte en entornos urbanos.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14400"/>
            <a:ext cx="3882890" cy="107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6"/>
              </a:lnSpc>
              <a:spcBef>
                <a:spcPct val="0"/>
              </a:spcBef>
            </a:pPr>
            <a:r>
              <a:rPr lang="en-US" b="true" sz="63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9472" y="0"/>
            <a:ext cx="8408528" cy="10287000"/>
            <a:chOff x="0" y="0"/>
            <a:chExt cx="2214592" cy="2709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4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14592">
                  <a:moveTo>
                    <a:pt x="0" y="0"/>
                  </a:moveTo>
                  <a:lnTo>
                    <a:pt x="2214592" y="0"/>
                  </a:lnTo>
                  <a:lnTo>
                    <a:pt x="2214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274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14592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5585" y="981075"/>
            <a:ext cx="1997186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Problemática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5585" y="1327149"/>
            <a:ext cx="9026649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Desafíos reales de la movilidad urbana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44462" y="5022776"/>
            <a:ext cx="3498467" cy="198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b="true" sz="162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Crecimiento del parque vehicular y déficit de estacionamiento</a:t>
            </a:r>
          </a:p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sz="162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los últimos años se ha reportado que más del 10 % del tráfico en grandes ciudades deriva de conductores que recorren calles buscando estacionamiento.”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5585" y="9580722"/>
            <a:ext cx="6631037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Fuente: Cedeus / Universidad de Chile / Tomas Rossetti (MIT).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5585" y="5022776"/>
            <a:ext cx="3431669" cy="227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3"/>
              </a:lnSpc>
              <a:spcBef>
                <a:spcPct val="0"/>
              </a:spcBef>
            </a:pPr>
            <a:r>
              <a:rPr lang="en-US" b="true" sz="16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Congestión vehicular asociada a la búsqueda de estacionamiento</a:t>
            </a:r>
          </a:p>
          <a:p>
            <a:pPr algn="just">
              <a:lnSpc>
                <a:spcPts val="2283"/>
              </a:lnSpc>
              <a:spcBef>
                <a:spcPct val="0"/>
              </a:spcBef>
            </a:pPr>
            <a:r>
              <a:rPr lang="en-US" sz="163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la Región Metropolitana hay más de 2 millones de vehículos. Cada dos viviendas debería haber un estacionamiento, pero la oferta no creció al mismo ritmo que el parque automotriz.”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09393" y="5022776"/>
            <a:ext cx="3430220" cy="255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2"/>
              </a:lnSpc>
              <a:spcBef>
                <a:spcPct val="0"/>
              </a:spcBef>
            </a:pPr>
            <a:r>
              <a:rPr lang="en-US" b="true" sz="163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Uso intensivo de uso de suelo en Santiago para estacionamientos</a:t>
            </a:r>
          </a:p>
          <a:p>
            <a:pPr algn="just">
              <a:lnSpc>
                <a:spcPts val="2282"/>
              </a:lnSpc>
              <a:spcBef>
                <a:spcPct val="0"/>
              </a:spcBef>
            </a:pPr>
            <a:r>
              <a:rPr lang="en-US" sz="163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el centro de Santiago, se estima que existen 26 221 estacionamientos en solo 7,3 km² (aproximadamente 5 % del suelo urbano), lo que refleja una alta demanda de espacio para estacionar.”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94664" y="5022776"/>
            <a:ext cx="3664636" cy="198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b="true" sz="162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 urbano de la densificación sin planificación adecuada</a:t>
            </a:r>
          </a:p>
          <a:p>
            <a:pPr algn="just">
              <a:lnSpc>
                <a:spcPts val="2281"/>
              </a:lnSpc>
              <a:spcBef>
                <a:spcPct val="0"/>
              </a:spcBef>
            </a:pPr>
            <a:r>
              <a:rPr lang="en-US" sz="162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“En barrios densificados del Área Metropolitana de Santiago, los estacionamientos actúan como ‘terminales receptoras y generadoras de potencial congestión vehicular’.”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53773" y="3373687"/>
            <a:ext cx="1873401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10%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45426" y="3373687"/>
            <a:ext cx="1401334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5</a:t>
            </a: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5585" y="3373687"/>
            <a:ext cx="635601" cy="130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4"/>
              </a:lnSpc>
              <a:spcBef>
                <a:spcPct val="0"/>
              </a:spcBef>
            </a:pPr>
            <a:r>
              <a:rPr lang="en-US" b="true" sz="77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4985" y="3989394"/>
            <a:ext cx="1819275" cy="563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5"/>
              </a:lnSpc>
              <a:spcBef>
                <a:spcPct val="0"/>
              </a:spcBef>
            </a:pPr>
            <a:r>
              <a:rPr lang="en-US" b="true" sz="3310">
                <a:solidFill>
                  <a:srgbClr val="5CE1E6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millones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96195" y="1795609"/>
            <a:ext cx="226479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Detectada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406447" y="3621180"/>
            <a:ext cx="3008851" cy="2004647"/>
          </a:xfrm>
          <a:custGeom>
            <a:avLst/>
            <a:gdLst/>
            <a:ahLst/>
            <a:cxnLst/>
            <a:rect r="r" b="b" t="t" l="l"/>
            <a:pathLst>
              <a:path h="2004647" w="3008851">
                <a:moveTo>
                  <a:pt x="0" y="0"/>
                </a:moveTo>
                <a:lnTo>
                  <a:pt x="3008851" y="0"/>
                </a:lnTo>
                <a:lnTo>
                  <a:pt x="3008851" y="2004647"/>
                </a:lnTo>
                <a:lnTo>
                  <a:pt x="0" y="2004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83631" y="3621180"/>
            <a:ext cx="2921161" cy="2004647"/>
          </a:xfrm>
          <a:custGeom>
            <a:avLst/>
            <a:gdLst/>
            <a:ahLst/>
            <a:cxnLst/>
            <a:rect r="r" b="b" t="t" l="l"/>
            <a:pathLst>
              <a:path h="2004647" w="2921161">
                <a:moveTo>
                  <a:pt x="0" y="0"/>
                </a:moveTo>
                <a:lnTo>
                  <a:pt x="2921161" y="0"/>
                </a:lnTo>
                <a:lnTo>
                  <a:pt x="2921161" y="2004647"/>
                </a:lnTo>
                <a:lnTo>
                  <a:pt x="0" y="2004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71617" y="3620457"/>
            <a:ext cx="3009935" cy="2005370"/>
          </a:xfrm>
          <a:custGeom>
            <a:avLst/>
            <a:gdLst/>
            <a:ahLst/>
            <a:cxnLst/>
            <a:rect r="r" b="b" t="t" l="l"/>
            <a:pathLst>
              <a:path h="2005370" w="3009935">
                <a:moveTo>
                  <a:pt x="0" y="0"/>
                </a:moveTo>
                <a:lnTo>
                  <a:pt x="3009936" y="0"/>
                </a:lnTo>
                <a:lnTo>
                  <a:pt x="3009936" y="2005370"/>
                </a:lnTo>
                <a:lnTo>
                  <a:pt x="0" y="2005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06447" y="6102570"/>
            <a:ext cx="3008851" cy="131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Reducir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la 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congestión urbana y el tiempo perdido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en la búsqueda de estacionamiento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3631" y="6102570"/>
            <a:ext cx="3008851" cy="164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Optimizar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el uso de espacios privados</a:t>
            </a:r>
            <a:r>
              <a:rPr lang="en-US" sz="19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no utilizados (estacionamientos particulares vacíos)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2702" y="6102570"/>
            <a:ext cx="3008851" cy="131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Generar alternativas</a:t>
            </a: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19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accesibles y seguras</a:t>
            </a:r>
            <a:r>
              <a:rPr lang="en-US" sz="19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para los conductores en zonas de alta demanda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7226" y="744061"/>
            <a:ext cx="4342730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Necesidad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74773" y="2418544"/>
            <a:ext cx="1107636" cy="191960"/>
            <a:chOff x="0" y="0"/>
            <a:chExt cx="1476848" cy="2559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7472" y="0"/>
            <a:ext cx="15411236" cy="10287000"/>
          </a:xfrm>
          <a:custGeom>
            <a:avLst/>
            <a:gdLst/>
            <a:ahLst/>
            <a:cxnLst/>
            <a:rect r="r" b="b" t="t" l="l"/>
            <a:pathLst>
              <a:path h="10287000" w="15411236">
                <a:moveTo>
                  <a:pt x="0" y="0"/>
                </a:moveTo>
                <a:lnTo>
                  <a:pt x="15411236" y="0"/>
                </a:lnTo>
                <a:lnTo>
                  <a:pt x="154112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7472" y="0"/>
            <a:ext cx="7900528" cy="10287000"/>
            <a:chOff x="0" y="0"/>
            <a:chExt cx="208079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079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80797">
                  <a:moveTo>
                    <a:pt x="0" y="0"/>
                  </a:moveTo>
                  <a:lnTo>
                    <a:pt x="2080797" y="0"/>
                  </a:lnTo>
                  <a:lnTo>
                    <a:pt x="208079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08079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56842" y="541068"/>
            <a:ext cx="4861262" cy="9650148"/>
          </a:xfrm>
          <a:custGeom>
            <a:avLst/>
            <a:gdLst/>
            <a:ahLst/>
            <a:cxnLst/>
            <a:rect r="r" b="b" t="t" l="l"/>
            <a:pathLst>
              <a:path h="9650148" w="4861262">
                <a:moveTo>
                  <a:pt x="0" y="0"/>
                </a:moveTo>
                <a:lnTo>
                  <a:pt x="4861261" y="0"/>
                </a:lnTo>
                <a:lnTo>
                  <a:pt x="4861261" y="9650148"/>
                </a:lnTo>
                <a:lnTo>
                  <a:pt x="0" y="9650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44029" y="2244807"/>
            <a:ext cx="402513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4029" y="1745697"/>
            <a:ext cx="186384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Solución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4029" y="4136943"/>
            <a:ext cx="5943932" cy="432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App móvil para conectar a conductores con propietarios de estacionamientos.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Mapa interactivo para buscar y reservar espaci</a:t>
            </a: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os en tiempo real.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Registro de vehículos y perfil de usuario para facilitar la gestión.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Pagos en línea seguros mediante integración con pasarela de pago.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Optimiza espacios desocupados y mejora la movilidad urbana.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444029" y="3372555"/>
            <a:ext cx="1107636" cy="191960"/>
            <a:chOff x="0" y="0"/>
            <a:chExt cx="1476848" cy="2559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406972" cy="10287000"/>
            <a:chOff x="0" y="0"/>
            <a:chExt cx="326768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7680" cy="2709333"/>
            </a:xfrm>
            <a:custGeom>
              <a:avLst/>
              <a:gdLst/>
              <a:ahLst/>
              <a:cxnLst/>
              <a:rect r="r" b="b" t="t" l="l"/>
              <a:pathLst>
                <a:path h="2709333" w="3267680">
                  <a:moveTo>
                    <a:pt x="0" y="0"/>
                  </a:moveTo>
                  <a:lnTo>
                    <a:pt x="3267680" y="0"/>
                  </a:lnTo>
                  <a:lnTo>
                    <a:pt x="32676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267680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7132" y="811235"/>
            <a:ext cx="11552708" cy="8664531"/>
          </a:xfrm>
          <a:custGeom>
            <a:avLst/>
            <a:gdLst/>
            <a:ahLst/>
            <a:cxnLst/>
            <a:rect r="r" b="b" t="t" l="l"/>
            <a:pathLst>
              <a:path h="8664531" w="11552708">
                <a:moveTo>
                  <a:pt x="0" y="0"/>
                </a:moveTo>
                <a:lnTo>
                  <a:pt x="11552708" y="0"/>
                </a:lnTo>
                <a:lnTo>
                  <a:pt x="11552708" y="8664530"/>
                </a:lnTo>
                <a:lnTo>
                  <a:pt x="0" y="8664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27668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03693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79718" y="5089488"/>
            <a:ext cx="199585" cy="199585"/>
          </a:xfrm>
          <a:custGeom>
            <a:avLst/>
            <a:gdLst/>
            <a:ahLst/>
            <a:cxnLst/>
            <a:rect r="r" b="b" t="t" l="l"/>
            <a:pathLst>
              <a:path h="199585" w="199585">
                <a:moveTo>
                  <a:pt x="0" y="0"/>
                </a:moveTo>
                <a:lnTo>
                  <a:pt x="199585" y="0"/>
                </a:lnTo>
                <a:lnTo>
                  <a:pt x="199585" y="199585"/>
                </a:lnTo>
                <a:lnTo>
                  <a:pt x="0" y="1995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0942" y="4251672"/>
            <a:ext cx="1377967" cy="1377967"/>
          </a:xfrm>
          <a:custGeom>
            <a:avLst/>
            <a:gdLst/>
            <a:ahLst/>
            <a:cxnLst/>
            <a:rect r="r" b="b" t="t" l="l"/>
            <a:pathLst>
              <a:path h="1377967" w="1377967">
                <a:moveTo>
                  <a:pt x="0" y="0"/>
                </a:moveTo>
                <a:lnTo>
                  <a:pt x="1377968" y="0"/>
                </a:lnTo>
                <a:lnTo>
                  <a:pt x="1377968" y="1377967"/>
                </a:lnTo>
                <a:lnTo>
                  <a:pt x="0" y="13779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62021" y="6428630"/>
            <a:ext cx="1578182" cy="1578182"/>
          </a:xfrm>
          <a:custGeom>
            <a:avLst/>
            <a:gdLst/>
            <a:ahLst/>
            <a:cxnLst/>
            <a:rect r="r" b="b" t="t" l="l"/>
            <a:pathLst>
              <a:path h="1578182" w="1578182">
                <a:moveTo>
                  <a:pt x="0" y="0"/>
                </a:moveTo>
                <a:lnTo>
                  <a:pt x="1578182" y="0"/>
                </a:lnTo>
                <a:lnTo>
                  <a:pt x="1578182" y="1578182"/>
                </a:lnTo>
                <a:lnTo>
                  <a:pt x="0" y="15781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27668" y="7376929"/>
            <a:ext cx="1259766" cy="1259766"/>
          </a:xfrm>
          <a:custGeom>
            <a:avLst/>
            <a:gdLst/>
            <a:ahLst/>
            <a:cxnLst/>
            <a:rect r="r" b="b" t="t" l="l"/>
            <a:pathLst>
              <a:path h="1259766" w="1259766">
                <a:moveTo>
                  <a:pt x="0" y="0"/>
                </a:moveTo>
                <a:lnTo>
                  <a:pt x="1259767" y="0"/>
                </a:lnTo>
                <a:lnTo>
                  <a:pt x="1259767" y="1259766"/>
                </a:lnTo>
                <a:lnTo>
                  <a:pt x="0" y="12597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50541" y="6580799"/>
            <a:ext cx="1273844" cy="1273844"/>
          </a:xfrm>
          <a:custGeom>
            <a:avLst/>
            <a:gdLst/>
            <a:ahLst/>
            <a:cxnLst/>
            <a:rect r="r" b="b" t="t" l="l"/>
            <a:pathLst>
              <a:path h="1273844" w="1273844">
                <a:moveTo>
                  <a:pt x="0" y="0"/>
                </a:moveTo>
                <a:lnTo>
                  <a:pt x="1273844" y="0"/>
                </a:lnTo>
                <a:lnTo>
                  <a:pt x="1273844" y="1273844"/>
                </a:lnTo>
                <a:lnTo>
                  <a:pt x="0" y="1273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47475" y="4348152"/>
            <a:ext cx="1185007" cy="1185007"/>
          </a:xfrm>
          <a:custGeom>
            <a:avLst/>
            <a:gdLst/>
            <a:ahLst/>
            <a:cxnLst/>
            <a:rect r="r" b="b" t="t" l="l"/>
            <a:pathLst>
              <a:path h="1185007" w="1185007">
                <a:moveTo>
                  <a:pt x="0" y="0"/>
                </a:moveTo>
                <a:lnTo>
                  <a:pt x="1185007" y="0"/>
                </a:lnTo>
                <a:lnTo>
                  <a:pt x="1185007" y="1185007"/>
                </a:lnTo>
                <a:lnTo>
                  <a:pt x="0" y="11850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46802" y="2146347"/>
            <a:ext cx="2713367" cy="117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7"/>
              </a:lnSpc>
            </a:pPr>
            <a:r>
              <a:rPr lang="en-US" sz="686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63910" y="3453378"/>
            <a:ext cx="3478566" cy="118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79"/>
              </a:lnSpc>
              <a:spcBef>
                <a:spcPct val="0"/>
              </a:spcBef>
            </a:pPr>
            <a:r>
              <a:rPr lang="en-US" sz="1342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</a:t>
            </a:r>
            <a:r>
              <a:rPr lang="en-US" sz="1342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 una historia grande de usuario que agrupa varias funcionalidades relacionadas y que normalmente se divide en múltiples historias de usuario más pequeñas para poder implementarla en distintos sprints.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06144" y="1834637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Agrupa todo lo que tiene que ver con crear y recuperar acceso a la cuenta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6144" y="1009409"/>
            <a:ext cx="3210422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Épica de Autenticación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Seguridad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06144" y="3688408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estión de datos personales, vehículos </a:t>
            </a:r>
          </a:p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y configuración de la cuenta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06144" y="2863181"/>
            <a:ext cx="3544620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de Perfil de Usuario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Configuración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06144" y="5540416"/>
            <a:ext cx="36992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esde la búsqueda de estacionamientos hasta la confirmación de la reserva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06144" y="4715189"/>
            <a:ext cx="2549880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Exploración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Reservas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06144" y="7038468"/>
            <a:ext cx="3094873" cy="53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dministración de métodos de pago, historial y cuentas bancarias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06144" y="6567197"/>
            <a:ext cx="2183165" cy="33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de Pagos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06144" y="8890476"/>
            <a:ext cx="3358347" cy="80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2"/>
              </a:lnSpc>
              <a:spcBef>
                <a:spcPct val="0"/>
              </a:spcBef>
            </a:pP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</a:t>
            </a:r>
            <a:r>
              <a:rPr lang="en-US" sz="15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 el flujo de convertirse en arrendador, crear, editar y publicar un estacionamiento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06144" y="8065249"/>
            <a:ext cx="2765793" cy="69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 Épica Gestión de </a:t>
            </a:r>
          </a:p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b="true" sz="198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Espacios (Arrendador)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10773352">
            <a:off x="862156" y="1581645"/>
            <a:ext cx="7470069" cy="8686126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828358" y="2268650"/>
            <a:ext cx="1107636" cy="191960"/>
            <a:chOff x="0" y="0"/>
            <a:chExt cx="1476848" cy="255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58377" y="3368839"/>
            <a:ext cx="2231616" cy="22316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8377" y="7124749"/>
            <a:ext cx="2231616" cy="22316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413527" y="-200499"/>
            <a:ext cx="8649850" cy="10057965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9418083" y="3368839"/>
            <a:ext cx="2231616" cy="223161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18083" y="7124749"/>
            <a:ext cx="2231616" cy="223161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0521084">
            <a:off x="2982351" y="3157974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3" y="0"/>
                </a:lnTo>
                <a:lnTo>
                  <a:pt x="1256603" y="2720288"/>
                </a:lnTo>
                <a:lnTo>
                  <a:pt x="0" y="272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521084">
            <a:off x="2982351" y="6913885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3" y="0"/>
                </a:lnTo>
                <a:lnTo>
                  <a:pt x="1256603" y="2720287"/>
                </a:lnTo>
                <a:lnTo>
                  <a:pt x="0" y="2720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521084">
            <a:off x="10642056" y="3157974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4" y="0"/>
                </a:lnTo>
                <a:lnTo>
                  <a:pt x="1256604" y="2720288"/>
                </a:lnTo>
                <a:lnTo>
                  <a:pt x="0" y="272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521084">
            <a:off x="10642056" y="6913885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4" y="0"/>
                </a:lnTo>
                <a:lnTo>
                  <a:pt x="1256604" y="2720287"/>
                </a:lnTo>
                <a:lnTo>
                  <a:pt x="0" y="2720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291003" y="7687118"/>
            <a:ext cx="1166365" cy="1166365"/>
          </a:xfrm>
          <a:custGeom>
            <a:avLst/>
            <a:gdLst/>
            <a:ahLst/>
            <a:cxnLst/>
            <a:rect r="r" b="b" t="t" l="l"/>
            <a:pathLst>
              <a:path h="1166365" w="1166365">
                <a:moveTo>
                  <a:pt x="0" y="0"/>
                </a:moveTo>
                <a:lnTo>
                  <a:pt x="1166365" y="0"/>
                </a:lnTo>
                <a:lnTo>
                  <a:pt x="1166365" y="1166365"/>
                </a:lnTo>
                <a:lnTo>
                  <a:pt x="0" y="1166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090608" y="3871721"/>
            <a:ext cx="1179751" cy="1179751"/>
          </a:xfrm>
          <a:custGeom>
            <a:avLst/>
            <a:gdLst/>
            <a:ahLst/>
            <a:cxnLst/>
            <a:rect r="r" b="b" t="t" l="l"/>
            <a:pathLst>
              <a:path h="1179751" w="1179751">
                <a:moveTo>
                  <a:pt x="0" y="0"/>
                </a:moveTo>
                <a:lnTo>
                  <a:pt x="1179750" y="0"/>
                </a:lnTo>
                <a:lnTo>
                  <a:pt x="1179750" y="1179751"/>
                </a:lnTo>
                <a:lnTo>
                  <a:pt x="0" y="11797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46927" y="7687118"/>
            <a:ext cx="1259664" cy="1259664"/>
          </a:xfrm>
          <a:custGeom>
            <a:avLst/>
            <a:gdLst/>
            <a:ahLst/>
            <a:cxnLst/>
            <a:rect r="r" b="b" t="t" l="l"/>
            <a:pathLst>
              <a:path h="1259664" w="1259664">
                <a:moveTo>
                  <a:pt x="0" y="0"/>
                </a:moveTo>
                <a:lnTo>
                  <a:pt x="1259664" y="0"/>
                </a:lnTo>
                <a:lnTo>
                  <a:pt x="1259664" y="1259664"/>
                </a:lnTo>
                <a:lnTo>
                  <a:pt x="0" y="12596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360550" y="3947961"/>
            <a:ext cx="1027272" cy="1027272"/>
          </a:xfrm>
          <a:custGeom>
            <a:avLst/>
            <a:gdLst/>
            <a:ahLst/>
            <a:cxnLst/>
            <a:rect r="r" b="b" t="t" l="l"/>
            <a:pathLst>
              <a:path h="1027272" w="1027272">
                <a:moveTo>
                  <a:pt x="0" y="0"/>
                </a:moveTo>
                <a:lnTo>
                  <a:pt x="1027271" y="0"/>
                </a:lnTo>
                <a:lnTo>
                  <a:pt x="1027271" y="1027271"/>
                </a:lnTo>
                <a:lnTo>
                  <a:pt x="0" y="10272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48318" y="600871"/>
            <a:ext cx="668640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37475" y="4354394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 sistema debe permitir el inicio de sesión con correo electrónico y contraseña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37475" y="7998073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sistema debe proporcionar un "Hub de Pagos y Cobros" para gestionar métodos de pago y cuentas bancarias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6495" y="4354394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 sistema debe mostrar en la pantalla de inicio un listado de estacionamientos disponibles con información relevante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6495" y="7998073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sistema debe permitir publicar un nuevo estacionamiento con ubicación, características, horarios, precio y fotos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37475" y="3936328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Autenticación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37475" y="7580007"/>
            <a:ext cx="1855076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6495" y="3936328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Reserva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6495" y="7580007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Anfitrión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8358" y="1701137"/>
            <a:ext cx="22847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Funcionales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10773352">
            <a:off x="862156" y="1581645"/>
            <a:ext cx="7470069" cy="8686126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828358" y="2268650"/>
            <a:ext cx="1107636" cy="191960"/>
            <a:chOff x="0" y="0"/>
            <a:chExt cx="1476848" cy="255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58377" y="3368839"/>
            <a:ext cx="2231616" cy="22316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8377" y="7124749"/>
            <a:ext cx="2231616" cy="22316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413527" y="-200499"/>
            <a:ext cx="8649850" cy="10057965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9418083" y="3368839"/>
            <a:ext cx="2231616" cy="223161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18083" y="7124749"/>
            <a:ext cx="2231616" cy="223161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0521084">
            <a:off x="2982351" y="3157974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3" y="0"/>
                </a:lnTo>
                <a:lnTo>
                  <a:pt x="1256603" y="2720288"/>
                </a:lnTo>
                <a:lnTo>
                  <a:pt x="0" y="272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521084">
            <a:off x="2982351" y="6913885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3" y="0"/>
                </a:lnTo>
                <a:lnTo>
                  <a:pt x="1256603" y="2720287"/>
                </a:lnTo>
                <a:lnTo>
                  <a:pt x="0" y="2720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521084">
            <a:off x="10642056" y="3157974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4" y="0"/>
                </a:lnTo>
                <a:lnTo>
                  <a:pt x="1256604" y="2720288"/>
                </a:lnTo>
                <a:lnTo>
                  <a:pt x="0" y="272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521084">
            <a:off x="10642056" y="6913885"/>
            <a:ext cx="1256603" cy="2720288"/>
          </a:xfrm>
          <a:custGeom>
            <a:avLst/>
            <a:gdLst/>
            <a:ahLst/>
            <a:cxnLst/>
            <a:rect r="r" b="b" t="t" l="l"/>
            <a:pathLst>
              <a:path h="2720288" w="1256603">
                <a:moveTo>
                  <a:pt x="0" y="0"/>
                </a:moveTo>
                <a:lnTo>
                  <a:pt x="1256604" y="0"/>
                </a:lnTo>
                <a:lnTo>
                  <a:pt x="1256604" y="2720287"/>
                </a:lnTo>
                <a:lnTo>
                  <a:pt x="0" y="2720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261260" y="3871721"/>
            <a:ext cx="1225851" cy="1225851"/>
          </a:xfrm>
          <a:custGeom>
            <a:avLst/>
            <a:gdLst/>
            <a:ahLst/>
            <a:cxnLst/>
            <a:rect r="r" b="b" t="t" l="l"/>
            <a:pathLst>
              <a:path h="1225851" w="1225851">
                <a:moveTo>
                  <a:pt x="0" y="0"/>
                </a:moveTo>
                <a:lnTo>
                  <a:pt x="1225851" y="0"/>
                </a:lnTo>
                <a:lnTo>
                  <a:pt x="1225851" y="1225851"/>
                </a:lnTo>
                <a:lnTo>
                  <a:pt x="0" y="1225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291003" y="7687118"/>
            <a:ext cx="1166365" cy="1166365"/>
          </a:xfrm>
          <a:custGeom>
            <a:avLst/>
            <a:gdLst/>
            <a:ahLst/>
            <a:cxnLst/>
            <a:rect r="r" b="b" t="t" l="l"/>
            <a:pathLst>
              <a:path h="1166365" w="1166365">
                <a:moveTo>
                  <a:pt x="0" y="0"/>
                </a:moveTo>
                <a:lnTo>
                  <a:pt x="1166365" y="0"/>
                </a:lnTo>
                <a:lnTo>
                  <a:pt x="1166365" y="1166365"/>
                </a:lnTo>
                <a:lnTo>
                  <a:pt x="0" y="1166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67408" y="3918506"/>
            <a:ext cx="1132281" cy="1132281"/>
          </a:xfrm>
          <a:custGeom>
            <a:avLst/>
            <a:gdLst/>
            <a:ahLst/>
            <a:cxnLst/>
            <a:rect r="r" b="b" t="t" l="l"/>
            <a:pathLst>
              <a:path h="1132281" w="1132281">
                <a:moveTo>
                  <a:pt x="0" y="0"/>
                </a:moveTo>
                <a:lnTo>
                  <a:pt x="1132281" y="0"/>
                </a:lnTo>
                <a:lnTo>
                  <a:pt x="1132281" y="1132281"/>
                </a:lnTo>
                <a:lnTo>
                  <a:pt x="0" y="11322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967408" y="7627632"/>
            <a:ext cx="1159563" cy="1159563"/>
          </a:xfrm>
          <a:custGeom>
            <a:avLst/>
            <a:gdLst/>
            <a:ahLst/>
            <a:cxnLst/>
            <a:rect r="r" b="b" t="t" l="l"/>
            <a:pathLst>
              <a:path h="1159563" w="1159563">
                <a:moveTo>
                  <a:pt x="0" y="0"/>
                </a:moveTo>
                <a:lnTo>
                  <a:pt x="1159563" y="0"/>
                </a:lnTo>
                <a:lnTo>
                  <a:pt x="1159563" y="1159563"/>
                </a:lnTo>
                <a:lnTo>
                  <a:pt x="0" y="1159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48318" y="600871"/>
            <a:ext cx="668640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37475" y="4354394"/>
            <a:ext cx="4333127" cy="185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odas las comunicaciones deben realizarse bajo protocolo HTTPS/TLS</a:t>
            </a:r>
          </a:p>
          <a:p>
            <a:pPr algn="l">
              <a:lnSpc>
                <a:spcPts val="2544"/>
              </a:lnSpc>
              <a:spcBef>
                <a:spcPct val="0"/>
              </a:spcBef>
            </a:pPr>
          </a:p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Las contraseñas deben almacenarse mediante hash + salt, nunca en texto plano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37475" y="7998073"/>
            <a:ext cx="4333127" cy="60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pasarela de pago debe cumplir con tokenización de tarjetas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6495" y="4354394"/>
            <a:ext cx="4333127" cy="9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tiempo de respuesta del sistema no debe superar 2 segundos en login, búsqueda y reservas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6495" y="7998073"/>
            <a:ext cx="4333127" cy="60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  <a:spcBef>
                <a:spcPct val="0"/>
              </a:spcBef>
            </a:pP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</a:t>
            </a:r>
            <a:r>
              <a:rPr lang="en-US" sz="181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sistema debe garantizar un 99,5% de uptime mensual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37475" y="3936328"/>
            <a:ext cx="1855076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eguridad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37475" y="7580007"/>
            <a:ext cx="1855076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Pagos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6495" y="3936328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Rendimiento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6495" y="7580007"/>
            <a:ext cx="2166564" cy="401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b="true" sz="23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Disponibilidad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8358" y="1702230"/>
            <a:ext cx="293861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 Funcionales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9244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292440" y="2416568"/>
            <a:ext cx="10818762" cy="7451325"/>
          </a:xfrm>
          <a:custGeom>
            <a:avLst/>
            <a:gdLst/>
            <a:ahLst/>
            <a:cxnLst/>
            <a:rect r="r" b="b" t="t" l="l"/>
            <a:pathLst>
              <a:path h="7451325" w="10818762">
                <a:moveTo>
                  <a:pt x="0" y="0"/>
                </a:moveTo>
                <a:lnTo>
                  <a:pt x="10818762" y="0"/>
                </a:lnTo>
                <a:lnTo>
                  <a:pt x="10818762" y="7451325"/>
                </a:lnTo>
                <a:lnTo>
                  <a:pt x="0" y="7451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43" r="0" b="-250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92440" y="904875"/>
            <a:ext cx="5388099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8377" y="1848285"/>
            <a:ext cx="12508266" cy="8314662"/>
          </a:xfrm>
          <a:custGeom>
            <a:avLst/>
            <a:gdLst/>
            <a:ahLst/>
            <a:cxnLst/>
            <a:rect r="r" b="b" t="t" l="l"/>
            <a:pathLst>
              <a:path h="8314662" w="12508266">
                <a:moveTo>
                  <a:pt x="0" y="0"/>
                </a:moveTo>
                <a:lnTo>
                  <a:pt x="12508266" y="0"/>
                </a:lnTo>
                <a:lnTo>
                  <a:pt x="12508266" y="8314662"/>
                </a:lnTo>
                <a:lnTo>
                  <a:pt x="0" y="8314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0" r="-115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83238" y="9549097"/>
            <a:ext cx="3924151" cy="613851"/>
            <a:chOff x="0" y="0"/>
            <a:chExt cx="1033521" cy="1616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3521" cy="161673"/>
            </a:xfrm>
            <a:custGeom>
              <a:avLst/>
              <a:gdLst/>
              <a:ahLst/>
              <a:cxnLst/>
              <a:rect r="r" b="b" t="t" l="l"/>
              <a:pathLst>
                <a:path h="161673" w="1033521">
                  <a:moveTo>
                    <a:pt x="0" y="0"/>
                  </a:moveTo>
                  <a:lnTo>
                    <a:pt x="1033521" y="0"/>
                  </a:lnTo>
                  <a:lnTo>
                    <a:pt x="1033521" y="161673"/>
                  </a:lnTo>
                  <a:lnTo>
                    <a:pt x="0" y="161673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33521" cy="199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7902" y="1588898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37902" y="461150"/>
            <a:ext cx="6907411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datos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99409"/>
            <a:ext cx="14736075" cy="7853872"/>
          </a:xfrm>
          <a:custGeom>
            <a:avLst/>
            <a:gdLst/>
            <a:ahLst/>
            <a:cxnLst/>
            <a:rect r="r" b="b" t="t" l="l"/>
            <a:pathLst>
              <a:path h="7853872" w="14736075">
                <a:moveTo>
                  <a:pt x="0" y="0"/>
                </a:moveTo>
                <a:lnTo>
                  <a:pt x="14736075" y="0"/>
                </a:lnTo>
                <a:lnTo>
                  <a:pt x="14736075" y="7853872"/>
                </a:lnTo>
                <a:lnTo>
                  <a:pt x="0" y="785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806" r="0" b="-104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07849" y="3482219"/>
            <a:ext cx="287692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Marco Scrum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7849" y="4287308"/>
            <a:ext cx="5642468" cy="202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0"/>
              </a:lnSpc>
            </a:pPr>
            <a:r>
              <a:rPr lang="en-US" sz="1685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SCRUM es un enfoque ágil que permite a los equipos desarrollar productos de manera iterativa, promoviendo la colaboración, la comunicación constante y la adaptabilidad a los cambios. Su objetivo es maximizar la entrega de valor de manera eficiente y efectiva.</a:t>
            </a:r>
          </a:p>
          <a:p>
            <a:pPr algn="l">
              <a:lnSpc>
                <a:spcPts val="447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7009730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 Ágil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145176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0182" y="2175268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96514" y="2646256"/>
            <a:ext cx="4704271" cy="7452310"/>
          </a:xfrm>
          <a:custGeom>
            <a:avLst/>
            <a:gdLst/>
            <a:ahLst/>
            <a:cxnLst/>
            <a:rect r="r" b="b" t="t" l="l"/>
            <a:pathLst>
              <a:path h="7452310" w="4704271">
                <a:moveTo>
                  <a:pt x="0" y="0"/>
                </a:moveTo>
                <a:lnTo>
                  <a:pt x="4704271" y="0"/>
                </a:lnTo>
                <a:lnTo>
                  <a:pt x="4704271" y="7452310"/>
                </a:lnTo>
                <a:lnTo>
                  <a:pt x="0" y="745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87215" y="2646256"/>
            <a:ext cx="4704271" cy="7452310"/>
          </a:xfrm>
          <a:custGeom>
            <a:avLst/>
            <a:gdLst/>
            <a:ahLst/>
            <a:cxnLst/>
            <a:rect r="r" b="b" t="t" l="l"/>
            <a:pathLst>
              <a:path h="7452310" w="4704271">
                <a:moveTo>
                  <a:pt x="0" y="0"/>
                </a:moveTo>
                <a:lnTo>
                  <a:pt x="4704271" y="0"/>
                </a:lnTo>
                <a:lnTo>
                  <a:pt x="4704271" y="7452310"/>
                </a:lnTo>
                <a:lnTo>
                  <a:pt x="0" y="745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7666" y="3302366"/>
            <a:ext cx="629166" cy="629166"/>
          </a:xfrm>
          <a:custGeom>
            <a:avLst/>
            <a:gdLst/>
            <a:ahLst/>
            <a:cxnLst/>
            <a:rect r="r" b="b" t="t" l="l"/>
            <a:pathLst>
              <a:path h="629166" w="629166">
                <a:moveTo>
                  <a:pt x="0" y="0"/>
                </a:moveTo>
                <a:lnTo>
                  <a:pt x="629167" y="0"/>
                </a:lnTo>
                <a:lnTo>
                  <a:pt x="629167" y="629166"/>
                </a:lnTo>
                <a:lnTo>
                  <a:pt x="0" y="6291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39321" y="4697617"/>
            <a:ext cx="525856" cy="581928"/>
          </a:xfrm>
          <a:custGeom>
            <a:avLst/>
            <a:gdLst/>
            <a:ahLst/>
            <a:cxnLst/>
            <a:rect r="r" b="b" t="t" l="l"/>
            <a:pathLst>
              <a:path h="581928" w="525856">
                <a:moveTo>
                  <a:pt x="0" y="0"/>
                </a:moveTo>
                <a:lnTo>
                  <a:pt x="525857" y="0"/>
                </a:lnTo>
                <a:lnTo>
                  <a:pt x="525857" y="581928"/>
                </a:lnTo>
                <a:lnTo>
                  <a:pt x="0" y="581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05289" y="7425848"/>
            <a:ext cx="593920" cy="593920"/>
          </a:xfrm>
          <a:custGeom>
            <a:avLst/>
            <a:gdLst/>
            <a:ahLst/>
            <a:cxnLst/>
            <a:rect r="r" b="b" t="t" l="l"/>
            <a:pathLst>
              <a:path h="593920" w="593920">
                <a:moveTo>
                  <a:pt x="0" y="0"/>
                </a:moveTo>
                <a:lnTo>
                  <a:pt x="593921" y="0"/>
                </a:lnTo>
                <a:lnTo>
                  <a:pt x="593921" y="593920"/>
                </a:lnTo>
                <a:lnTo>
                  <a:pt x="0" y="593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34065" y="6100590"/>
            <a:ext cx="675210" cy="543644"/>
          </a:xfrm>
          <a:custGeom>
            <a:avLst/>
            <a:gdLst/>
            <a:ahLst/>
            <a:cxnLst/>
            <a:rect r="r" b="b" t="t" l="l"/>
            <a:pathLst>
              <a:path h="543644" w="675210">
                <a:moveTo>
                  <a:pt x="0" y="0"/>
                </a:moveTo>
                <a:lnTo>
                  <a:pt x="675211" y="0"/>
                </a:lnTo>
                <a:lnTo>
                  <a:pt x="675211" y="543643"/>
                </a:lnTo>
                <a:lnTo>
                  <a:pt x="0" y="5436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91163" y="7378608"/>
            <a:ext cx="561015" cy="641160"/>
          </a:xfrm>
          <a:custGeom>
            <a:avLst/>
            <a:gdLst/>
            <a:ahLst/>
            <a:cxnLst/>
            <a:rect r="r" b="b" t="t" l="l"/>
            <a:pathLst>
              <a:path h="641160" w="561015">
                <a:moveTo>
                  <a:pt x="0" y="0"/>
                </a:moveTo>
                <a:lnTo>
                  <a:pt x="561015" y="0"/>
                </a:lnTo>
                <a:lnTo>
                  <a:pt x="561015" y="641160"/>
                </a:lnTo>
                <a:lnTo>
                  <a:pt x="0" y="6411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62614" y="8753193"/>
            <a:ext cx="618113" cy="618113"/>
          </a:xfrm>
          <a:custGeom>
            <a:avLst/>
            <a:gdLst/>
            <a:ahLst/>
            <a:cxnLst/>
            <a:rect r="r" b="b" t="t" l="l"/>
            <a:pathLst>
              <a:path h="618113" w="618113">
                <a:moveTo>
                  <a:pt x="0" y="0"/>
                </a:moveTo>
                <a:lnTo>
                  <a:pt x="618113" y="0"/>
                </a:lnTo>
                <a:lnTo>
                  <a:pt x="618113" y="618113"/>
                </a:lnTo>
                <a:lnTo>
                  <a:pt x="0" y="6181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76308" y="3315752"/>
            <a:ext cx="632968" cy="564707"/>
          </a:xfrm>
          <a:custGeom>
            <a:avLst/>
            <a:gdLst/>
            <a:ahLst/>
            <a:cxnLst/>
            <a:rect r="r" b="b" t="t" l="l"/>
            <a:pathLst>
              <a:path h="564707" w="632968">
                <a:moveTo>
                  <a:pt x="0" y="0"/>
                </a:moveTo>
                <a:lnTo>
                  <a:pt x="632968" y="0"/>
                </a:lnTo>
                <a:lnTo>
                  <a:pt x="632968" y="564707"/>
                </a:lnTo>
                <a:lnTo>
                  <a:pt x="0" y="564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42000" y="8781768"/>
            <a:ext cx="674833" cy="655400"/>
          </a:xfrm>
          <a:custGeom>
            <a:avLst/>
            <a:gdLst/>
            <a:ahLst/>
            <a:cxnLst/>
            <a:rect r="r" b="b" t="t" l="l"/>
            <a:pathLst>
              <a:path h="655400" w="674833">
                <a:moveTo>
                  <a:pt x="0" y="0"/>
                </a:moveTo>
                <a:lnTo>
                  <a:pt x="674833" y="0"/>
                </a:lnTo>
                <a:lnTo>
                  <a:pt x="674833" y="655400"/>
                </a:lnTo>
                <a:lnTo>
                  <a:pt x="0" y="65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10540" y="4709358"/>
            <a:ext cx="570187" cy="570187"/>
          </a:xfrm>
          <a:custGeom>
            <a:avLst/>
            <a:gdLst/>
            <a:ahLst/>
            <a:cxnLst/>
            <a:rect r="r" b="b" t="t" l="l"/>
            <a:pathLst>
              <a:path h="570187" w="570187">
                <a:moveTo>
                  <a:pt x="0" y="0"/>
                </a:moveTo>
                <a:lnTo>
                  <a:pt x="570187" y="0"/>
                </a:lnTo>
                <a:lnTo>
                  <a:pt x="570187" y="570187"/>
                </a:lnTo>
                <a:lnTo>
                  <a:pt x="0" y="5701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87666" y="6122769"/>
            <a:ext cx="611543" cy="459855"/>
          </a:xfrm>
          <a:custGeom>
            <a:avLst/>
            <a:gdLst/>
            <a:ahLst/>
            <a:cxnLst/>
            <a:rect r="r" b="b" t="t" l="l"/>
            <a:pathLst>
              <a:path h="459855" w="611543">
                <a:moveTo>
                  <a:pt x="0" y="0"/>
                </a:moveTo>
                <a:lnTo>
                  <a:pt x="611544" y="0"/>
                </a:lnTo>
                <a:lnTo>
                  <a:pt x="611544" y="459855"/>
                </a:lnTo>
                <a:lnTo>
                  <a:pt x="0" y="4598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949715" y="904875"/>
            <a:ext cx="4388569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7153" y="3423930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 u="sng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15" tooltip="https://docs.google.com/spreadsheets/d/1xGlfAx5gp1nKPONwn1EWF0-LS5RJuEvT/edit?usp=drive_link&amp;ouid=112137381175738937054&amp;rtpof=true&amp;sd=true"/>
              </a:rPr>
              <a:t>Product backlog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52897" y="3423930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 u="sng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16" tooltip="https://docs.google.com/spreadsheets/d/1Z_CEjZBNUBeKzM4430rDpj5ILq93EWUaVkd3A417FJI/edit?usp=drive_link"/>
              </a:rPr>
              <a:t>Impediment Log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97153" y="4795561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backlog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52897" y="4795561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Incremento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97153" y="6162675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Kanban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52897" y="6162675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97153" y="7529789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Daily Scrum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52897" y="7529789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Acta Sprint Review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97153" y="8896902"/>
            <a:ext cx="235256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Burndown Chart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04238" y="8896902"/>
            <a:ext cx="2449882" cy="34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Sprint Retrospective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426733" y="2128603"/>
            <a:ext cx="9434534" cy="7979585"/>
          </a:xfrm>
          <a:custGeom>
            <a:avLst/>
            <a:gdLst/>
            <a:ahLst/>
            <a:cxnLst/>
            <a:rect r="r" b="b" t="t" l="l"/>
            <a:pathLst>
              <a:path h="7979585" w="9434534">
                <a:moveTo>
                  <a:pt x="0" y="0"/>
                </a:moveTo>
                <a:lnTo>
                  <a:pt x="9434534" y="0"/>
                </a:lnTo>
                <a:lnTo>
                  <a:pt x="9434534" y="7979585"/>
                </a:lnTo>
                <a:lnTo>
                  <a:pt x="0" y="797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9" r="-302" b="-17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5369644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3262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476168" y="2224583"/>
            <a:ext cx="13335664" cy="6464167"/>
          </a:xfrm>
          <a:custGeom>
            <a:avLst/>
            <a:gdLst/>
            <a:ahLst/>
            <a:cxnLst/>
            <a:rect r="r" b="b" t="t" l="l"/>
            <a:pathLst>
              <a:path h="6464167" w="13335664">
                <a:moveTo>
                  <a:pt x="0" y="0"/>
                </a:moveTo>
                <a:lnTo>
                  <a:pt x="13335664" y="0"/>
                </a:lnTo>
                <a:lnTo>
                  <a:pt x="13335664" y="6464166"/>
                </a:lnTo>
                <a:lnTo>
                  <a:pt x="0" y="6464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5246043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Presupuesto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190645"/>
            <a:ext cx="18288000" cy="5806440"/>
          </a:xfrm>
          <a:custGeom>
            <a:avLst/>
            <a:gdLst/>
            <a:ahLst/>
            <a:cxnLst/>
            <a:rect r="r" b="b" t="t" l="l"/>
            <a:pathLst>
              <a:path h="5806440" w="18288000">
                <a:moveTo>
                  <a:pt x="0" y="0"/>
                </a:moveTo>
                <a:lnTo>
                  <a:pt x="18288000" y="0"/>
                </a:lnTo>
                <a:lnTo>
                  <a:pt x="18288000" y="5806440"/>
                </a:lnTo>
                <a:lnTo>
                  <a:pt x="0" y="5806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2295" y="2032623"/>
            <a:ext cx="1107636" cy="191960"/>
            <a:chOff x="0" y="0"/>
            <a:chExt cx="1476848" cy="2559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09476" y="5165973"/>
            <a:ext cx="958977" cy="95897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99070" y="5188446"/>
            <a:ext cx="958977" cy="9589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37447" y="5188446"/>
            <a:ext cx="958977" cy="95897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04834" y="5188446"/>
            <a:ext cx="958977" cy="9589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540311" y="5188446"/>
            <a:ext cx="958977" cy="9589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70952" y="821458"/>
            <a:ext cx="2960117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49723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39317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04759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16072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85404" y="5019675"/>
            <a:ext cx="478482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4276" y="6958446"/>
            <a:ext cx="2729377" cy="165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eer a los usuarios un acceso seguro y u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 primera experiencia de exploración de estacionamientos en el mapa, con información básica y en tiempo real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3540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al 12 de Septiembre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26183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al 26 de Septiembre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64560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29 de Septiembre al 10 de Octubre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02937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 al 24 de Octubre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41064" y="8824342"/>
            <a:ext cx="3104752" cy="23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7"/>
              </a:lnSpc>
              <a:spcBef>
                <a:spcPct val="0"/>
              </a:spcBef>
            </a:pPr>
            <a:r>
              <a:rPr lang="en-US" b="true" sz="1383" spc="-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27 de Octubre al 7 de Noviembre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13870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a los usuarios gestio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nar reservas completas con validación en tiempo real, vehículos asociados y confirmación de la transacción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78555" y="2535419"/>
            <a:ext cx="9944912" cy="165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7"/>
              </a:lnSpc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Antes de iniciar los sprints de desarrollo, realizamos un </a:t>
            </a:r>
            <a:r>
              <a:rPr lang="en-US" b="true" sz="1583" spc="-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dedicado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la planificación, definición de arquitectura y configuración de entornos, lo que nos permitió come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nzar con bases sólidas.</a:t>
            </a:r>
          </a:p>
          <a:p>
            <a:pPr algn="just">
              <a:lnSpc>
                <a:spcPts val="2217"/>
              </a:lnSpc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Luego de completar los cinco sprints, ejecutamos un conjunto de </a:t>
            </a:r>
            <a:r>
              <a:rPr lang="en-US" b="true" sz="1583" spc="-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tareas de cierre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enfocadas en el despliegue a producción, la incorporación de analytics y métricas de negocio, la documentación técnica y de usuario, el plan de soporte y mantenimiento, y pruebas de carga para garantizar la estabilidad del sistema.</a:t>
            </a:r>
          </a:p>
          <a:p>
            <a:pPr algn="just">
              <a:lnSpc>
                <a:spcPts val="2217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686322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un sistema de pagos seguro y co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nfiable que permita completar reservas con métodos registrados y comprobantes digitales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177699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Provee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a los prop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ietarios herramientas para administrar sus espacios, interactuar con arrendatarios y gestionar la calidad del servicio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55111" y="6958446"/>
            <a:ext cx="2729377" cy="137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7"/>
              </a:lnSpc>
              <a:spcBef>
                <a:spcPct val="0"/>
              </a:spcBef>
            </a:pP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Consolida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la experiencia del usuario med</a:t>
            </a:r>
            <a:r>
              <a:rPr lang="en-US" sz="1583" spc="-6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iante favoritos, soporte integrado, mayor seguridad y un sistema más rápido y confiable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88613"/>
            <a:ext cx="7261900" cy="143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05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ntes de iniciar los sprints de desarrollo, realizamos un Sprint 0 dedicado a la planificación, definición de arquitectura y configuración de entornos, lo que nos permitió comenzar con bases sólidas.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95152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567" y="5271456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Prototipo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1567" y="5766520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Tablero kanban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04286" y="0"/>
            <a:ext cx="9678776" cy="10287000"/>
            <a:chOff x="0" y="0"/>
            <a:chExt cx="254914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4286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144000" y="3863853"/>
            <a:ext cx="3381364" cy="6557798"/>
          </a:xfrm>
          <a:custGeom>
            <a:avLst/>
            <a:gdLst/>
            <a:ahLst/>
            <a:cxnLst/>
            <a:rect r="r" b="b" t="t" l="l"/>
            <a:pathLst>
              <a:path h="6557798" w="3381364">
                <a:moveTo>
                  <a:pt x="0" y="0"/>
                </a:moveTo>
                <a:lnTo>
                  <a:pt x="3381364" y="0"/>
                </a:lnTo>
                <a:lnTo>
                  <a:pt x="3381364" y="6557798"/>
                </a:lnTo>
                <a:lnTo>
                  <a:pt x="0" y="6557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92550" y="4398532"/>
            <a:ext cx="3458909" cy="6708188"/>
          </a:xfrm>
          <a:custGeom>
            <a:avLst/>
            <a:gdLst/>
            <a:ahLst/>
            <a:cxnLst/>
            <a:rect r="r" b="b" t="t" l="l"/>
            <a:pathLst>
              <a:path h="6708188" w="3458909">
                <a:moveTo>
                  <a:pt x="0" y="0"/>
                </a:moveTo>
                <a:lnTo>
                  <a:pt x="3458910" y="0"/>
                </a:lnTo>
                <a:lnTo>
                  <a:pt x="3458910" y="6708188"/>
                </a:lnTo>
                <a:lnTo>
                  <a:pt x="0" y="67081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42705" y="3863853"/>
            <a:ext cx="3323420" cy="6445421"/>
          </a:xfrm>
          <a:custGeom>
            <a:avLst/>
            <a:gdLst/>
            <a:ahLst/>
            <a:cxnLst/>
            <a:rect r="r" b="b" t="t" l="l"/>
            <a:pathLst>
              <a:path h="6445421" w="3323420">
                <a:moveTo>
                  <a:pt x="0" y="0"/>
                </a:moveTo>
                <a:lnTo>
                  <a:pt x="3323420" y="0"/>
                </a:lnTo>
                <a:lnTo>
                  <a:pt x="3323420" y="6445421"/>
                </a:lnTo>
                <a:lnTo>
                  <a:pt x="0" y="64454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M6WrG0VjQUX9UrdUqHZtxs6QC7YA1Jkw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Proveer a los usuarios un acceso seguro y una primera experiencia de exploración de estacionamientos en el mapa, con información básica y en tiempo real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105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Mejoras que se pueden implementar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-Distribuir de mejor manera las tareas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-Pactar días para las ceremonias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OwtJD4nhC9p2fsx-AaKZAEJU2WQQteM4/edit?usp=drive_link&amp;ouid=112137381175738937054&amp;rtpof=true&amp;sd=true"/>
              </a:rPr>
              <a:t>Acta Review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9224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895566" y="4196321"/>
            <a:ext cx="3099017" cy="6356958"/>
          </a:xfrm>
          <a:custGeom>
            <a:avLst/>
            <a:gdLst/>
            <a:ahLst/>
            <a:cxnLst/>
            <a:rect r="r" b="b" t="t" l="l"/>
            <a:pathLst>
              <a:path h="6356958" w="3099017">
                <a:moveTo>
                  <a:pt x="0" y="0"/>
                </a:moveTo>
                <a:lnTo>
                  <a:pt x="3099017" y="0"/>
                </a:lnTo>
                <a:lnTo>
                  <a:pt x="309901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4936714"/>
            <a:ext cx="3146694" cy="6356958"/>
          </a:xfrm>
          <a:custGeom>
            <a:avLst/>
            <a:gdLst/>
            <a:ahLst/>
            <a:cxnLst/>
            <a:rect r="r" b="b" t="t" l="l"/>
            <a:pathLst>
              <a:path h="6356958" w="3146694">
                <a:moveTo>
                  <a:pt x="0" y="0"/>
                </a:moveTo>
                <a:lnTo>
                  <a:pt x="3146694" y="0"/>
                </a:lnTo>
                <a:lnTo>
                  <a:pt x="3146694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40083" y="4936714"/>
            <a:ext cx="3130802" cy="6356958"/>
          </a:xfrm>
          <a:custGeom>
            <a:avLst/>
            <a:gdLst/>
            <a:ahLst/>
            <a:cxnLst/>
            <a:rect r="r" b="b" t="t" l="l"/>
            <a:pathLst>
              <a:path h="6356958" w="3130802">
                <a:moveTo>
                  <a:pt x="0" y="0"/>
                </a:moveTo>
                <a:lnTo>
                  <a:pt x="3130802" y="0"/>
                </a:lnTo>
                <a:lnTo>
                  <a:pt x="313080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jdONXc1t0PXaUMvGRAbBnw6lfiJ83BGW/edit?usp=drive_link&amp;ouid=112137381175738937054&amp;rtpof=true&amp;sd=true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Permitir a los usuarios gestionar reservas completas con validación en tiempo real, vehículos asociados y confirmación de la transacción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175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Mejoras que se pueden implementar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-Dedicar un espacio fijo dentro del sprint a documentación técnica y de QA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-Estimar mejor las HU que involucran integraciones externas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Oj1q8tDDRZem7NqIr1ewuQP1Zf3fewZ2/edit?usp=drive_link&amp;ouid=112137381175738937054&amp;rtpof=true&amp;sd=true"/>
              </a:rPr>
              <a:t>Acta Review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195" y="0"/>
            <a:ext cx="10389805" cy="10287000"/>
          </a:xfrm>
          <a:custGeom>
            <a:avLst/>
            <a:gdLst/>
            <a:ahLst/>
            <a:cxnLst/>
            <a:rect r="r" b="b" t="t" l="l"/>
            <a:pathLst>
              <a:path h="10287000" w="10389805">
                <a:moveTo>
                  <a:pt x="0" y="0"/>
                </a:moveTo>
                <a:lnTo>
                  <a:pt x="10389805" y="0"/>
                </a:lnTo>
                <a:lnTo>
                  <a:pt x="103898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3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0522" y="0"/>
            <a:ext cx="9678776" cy="10287000"/>
            <a:chOff x="0" y="0"/>
            <a:chExt cx="254914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91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49143">
                  <a:moveTo>
                    <a:pt x="0" y="0"/>
                  </a:moveTo>
                  <a:lnTo>
                    <a:pt x="2549143" y="0"/>
                  </a:lnTo>
                  <a:lnTo>
                    <a:pt x="25491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E1E6">
                <a:alpha val="67843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49143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182353"/>
            <a:ext cx="1107636" cy="191960"/>
            <a:chOff x="0" y="0"/>
            <a:chExt cx="1476848" cy="255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376079" y="4875550"/>
            <a:ext cx="3083125" cy="6356958"/>
          </a:xfrm>
          <a:custGeom>
            <a:avLst/>
            <a:gdLst/>
            <a:ahLst/>
            <a:cxnLst/>
            <a:rect r="r" b="b" t="t" l="l"/>
            <a:pathLst>
              <a:path h="6356958" w="3083125">
                <a:moveTo>
                  <a:pt x="0" y="0"/>
                </a:moveTo>
                <a:lnTo>
                  <a:pt x="3083125" y="0"/>
                </a:lnTo>
                <a:lnTo>
                  <a:pt x="308312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92283" y="4196321"/>
            <a:ext cx="3146694" cy="6356958"/>
          </a:xfrm>
          <a:custGeom>
            <a:avLst/>
            <a:gdLst/>
            <a:ahLst/>
            <a:cxnLst/>
            <a:rect r="r" b="b" t="t" l="l"/>
            <a:pathLst>
              <a:path h="6356958" w="3146694">
                <a:moveTo>
                  <a:pt x="0" y="0"/>
                </a:moveTo>
                <a:lnTo>
                  <a:pt x="3146694" y="0"/>
                </a:lnTo>
                <a:lnTo>
                  <a:pt x="314669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78233" y="4709407"/>
            <a:ext cx="3114910" cy="6356958"/>
          </a:xfrm>
          <a:custGeom>
            <a:avLst/>
            <a:gdLst/>
            <a:ahLst/>
            <a:cxnLst/>
            <a:rect r="r" b="b" t="t" l="l"/>
            <a:pathLst>
              <a:path h="6356958" w="3114910">
                <a:moveTo>
                  <a:pt x="0" y="0"/>
                </a:moveTo>
                <a:lnTo>
                  <a:pt x="3114909" y="0"/>
                </a:lnTo>
                <a:lnTo>
                  <a:pt x="311490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04875"/>
            <a:ext cx="3239616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6445" y="1224165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02687"/>
            <a:ext cx="2553465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76825"/>
            <a:ext cx="3239616" cy="56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6445" y="1900469"/>
            <a:ext cx="2553465" cy="3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8" tooltip="https://docs.google.com/spreadsheets/d/1bSDjIef_2pyLwfZD-jQxus_vRkz-D_my/edit?gid=1128254782#gid=1128254782"/>
              </a:rPr>
              <a:t>Sprint Backlog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69466"/>
            <a:ext cx="5533170" cy="14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</a:t>
            </a: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ementar un sistema de pagos seguro y confiable que permita completar reservas con métodos registrados y comprobantes digitales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743604"/>
            <a:ext cx="5533170" cy="175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Mejoras que se pueden implementar</a:t>
            </a:r>
          </a:p>
          <a:p>
            <a:pPr algn="l">
              <a:lnSpc>
                <a:spcPts val="2824"/>
              </a:lnSpc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-Dedicar un espacio fijo dentro del sprint a documentación técnica y de QA</a:t>
            </a:r>
          </a:p>
          <a:p>
            <a:pPr algn="l">
              <a:lnSpc>
                <a:spcPts val="2824"/>
              </a:lnSpc>
              <a:spcBef>
                <a:spcPct val="0"/>
              </a:spcBef>
            </a:pPr>
            <a:r>
              <a:rPr lang="en-US" sz="201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-Estimar mejor las HU que involucran integraciones externas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6445" y="2393660"/>
            <a:ext cx="1592759" cy="38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3"/>
              </a:lnSpc>
              <a:spcBef>
                <a:spcPct val="0"/>
              </a:spcBef>
            </a:pPr>
            <a:r>
              <a:rPr lang="en-US" sz="2259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9" tooltip="https://docs.google.com/document/d/11LOffbEAF8JSLyVwKgfzznAw6T2c9we5/edit"/>
              </a:rPr>
              <a:t>Acta Review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847">
            <a:off x="10432633" y="5765514"/>
            <a:ext cx="4582897" cy="8165517"/>
          </a:xfrm>
          <a:custGeom>
            <a:avLst/>
            <a:gdLst/>
            <a:ahLst/>
            <a:cxnLst/>
            <a:rect r="r" b="b" t="t" l="l"/>
            <a:pathLst>
              <a:path h="8165517" w="4582897">
                <a:moveTo>
                  <a:pt x="0" y="0"/>
                </a:moveTo>
                <a:lnTo>
                  <a:pt x="4582897" y="0"/>
                </a:lnTo>
                <a:lnTo>
                  <a:pt x="4582897" y="8165517"/>
                </a:lnTo>
                <a:lnTo>
                  <a:pt x="0" y="8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847">
            <a:off x="3571237" y="5766497"/>
            <a:ext cx="4388966" cy="8165517"/>
          </a:xfrm>
          <a:custGeom>
            <a:avLst/>
            <a:gdLst/>
            <a:ahLst/>
            <a:cxnLst/>
            <a:rect r="r" b="b" t="t" l="l"/>
            <a:pathLst>
              <a:path h="8165517" w="4388966">
                <a:moveTo>
                  <a:pt x="0" y="0"/>
                </a:moveTo>
                <a:lnTo>
                  <a:pt x="4388965" y="0"/>
                </a:lnTo>
                <a:lnTo>
                  <a:pt x="4388965" y="8165517"/>
                </a:lnTo>
                <a:lnTo>
                  <a:pt x="0" y="8165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847">
            <a:off x="7245112" y="4013617"/>
            <a:ext cx="4113379" cy="8165517"/>
          </a:xfrm>
          <a:custGeom>
            <a:avLst/>
            <a:gdLst/>
            <a:ahLst/>
            <a:cxnLst/>
            <a:rect r="r" b="b" t="t" l="l"/>
            <a:pathLst>
              <a:path h="8165517" w="4113379">
                <a:moveTo>
                  <a:pt x="0" y="0"/>
                </a:moveTo>
                <a:lnTo>
                  <a:pt x="4113379" y="0"/>
                </a:lnTo>
                <a:lnTo>
                  <a:pt x="4113379" y="8165518"/>
                </a:lnTo>
                <a:lnTo>
                  <a:pt x="0" y="816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55381" y="3280270"/>
            <a:ext cx="1391501" cy="241155"/>
            <a:chOff x="0" y="0"/>
            <a:chExt cx="1855334" cy="321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66897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33794" y="0"/>
              <a:ext cx="321540" cy="321540"/>
            </a:xfrm>
            <a:custGeom>
              <a:avLst/>
              <a:gdLst/>
              <a:ahLst/>
              <a:cxnLst/>
              <a:rect r="r" b="b" t="t" l="l"/>
              <a:pathLst>
                <a:path h="321540" w="321540">
                  <a:moveTo>
                    <a:pt x="0" y="0"/>
                  </a:moveTo>
                  <a:lnTo>
                    <a:pt x="321540" y="0"/>
                  </a:lnTo>
                  <a:lnTo>
                    <a:pt x="321540" y="321540"/>
                  </a:lnTo>
                  <a:lnTo>
                    <a:pt x="0" y="321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343259" y="1429143"/>
            <a:ext cx="7048107" cy="197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80"/>
              </a:lnSpc>
            </a:pPr>
            <a:r>
              <a:rPr lang="en-US" sz="1155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ParkChile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06848" y="1145533"/>
            <a:ext cx="1740034" cy="117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3"/>
              </a:lnSpc>
              <a:spcBef>
                <a:spcPct val="0"/>
              </a:spcBef>
            </a:pPr>
            <a:r>
              <a:rPr lang="en-US" sz="690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Demo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0182" y="2147463"/>
            <a:ext cx="1107636" cy="191960"/>
            <a:chOff x="0" y="0"/>
            <a:chExt cx="1476848" cy="255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10451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20902" y="0"/>
              <a:ext cx="255946" cy="255946"/>
            </a:xfrm>
            <a:custGeom>
              <a:avLst/>
              <a:gdLst/>
              <a:ahLst/>
              <a:cxnLst/>
              <a:rect r="r" b="b" t="t" l="l"/>
              <a:pathLst>
                <a:path h="255946" w="255946">
                  <a:moveTo>
                    <a:pt x="0" y="0"/>
                  </a:moveTo>
                  <a:lnTo>
                    <a:pt x="255946" y="0"/>
                  </a:lnTo>
                  <a:lnTo>
                    <a:pt x="255946" y="255946"/>
                  </a:lnTo>
                  <a:lnTo>
                    <a:pt x="0" y="2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395926" y="904875"/>
            <a:ext cx="5496148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5901" y="4139356"/>
            <a:ext cx="4203314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desafió a crecer, asumir responsabilidades y crear soluciones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70668" y="4139356"/>
            <a:ext cx="4203314" cy="222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permitió poner en práctica nuestros conocimientos, fortalecer el trabajo en equipo y afrontar un desafío con impacto real en nuestro entorno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26532" y="4183807"/>
            <a:ext cx="3945568" cy="185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Este proyecto nos impulsó a salir de la zona de confort, asumir responsabilidades y generar soluciones que aportan de manera concreta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62459" y="5257019"/>
            <a:ext cx="2856756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Matias V.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29833" y="6372015"/>
            <a:ext cx="2907729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Eduardo Z.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3232" y="6002881"/>
            <a:ext cx="2457227" cy="9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5CE1E6"/>
                </a:solidFill>
                <a:latin typeface="Brittany"/>
                <a:ea typeface="Brittany"/>
                <a:cs typeface="Brittany"/>
                <a:sym typeface="Brittany"/>
              </a:rPr>
              <a:t>Jenny 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DAGxSVZd1gU</dc:identifier>
  <dcterms:modified xsi:type="dcterms:W3CDTF">2011-08-01T06:04:30Z</dcterms:modified>
  <cp:revision>1</cp:revision>
  <dc:title>Capstone ParkChile</dc:title>
</cp:coreProperties>
</file>